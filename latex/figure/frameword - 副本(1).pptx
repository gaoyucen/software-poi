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1" r:id="rId2"/>
  </p:sldIdLst>
  <p:sldSz cx="2159952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B0FA"/>
    <a:srgbClr val="2E38C7"/>
    <a:srgbClr val="ADC4FC"/>
    <a:srgbClr val="6679C3"/>
    <a:srgbClr val="BAD1F2"/>
    <a:srgbClr val="C8A0EE"/>
    <a:srgbClr val="C8B1E5"/>
    <a:srgbClr val="627ECA"/>
    <a:srgbClr val="EAF1F9"/>
    <a:srgbClr val="7197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50" d="100"/>
          <a:sy n="50" d="100"/>
        </p:scale>
        <p:origin x="156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07F20-0370-4DA4-8D04-5C0D2E57A212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1EBBC3-9640-47F0-A197-BEB6606DC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281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67562-4EC8-7DFD-0683-D647C89EB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7E3640-D4C1-4BFC-12FA-8B5B88CBC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412BB-C7D2-0948-1297-AB11972AA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DAD31F-036C-C289-042F-5D1167FEC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EBBC3-9640-47F0-A197-BEB6606DCBC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814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2356703"/>
            <a:ext cx="1835959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7563446"/>
            <a:ext cx="16199644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97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32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3590057"/>
            <a:ext cx="1862959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9636813"/>
            <a:ext cx="1862959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/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30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3833390"/>
            <a:ext cx="9179798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3833390"/>
            <a:ext cx="9179798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19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766681"/>
            <a:ext cx="18629590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3530053"/>
            <a:ext cx="9137610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5260078"/>
            <a:ext cx="9137610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3530053"/>
            <a:ext cx="9182611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5260078"/>
            <a:ext cx="918261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03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65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10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960014"/>
            <a:ext cx="696640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2073367"/>
            <a:ext cx="10934760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4320064"/>
            <a:ext cx="696640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98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960014"/>
            <a:ext cx="696640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2073367"/>
            <a:ext cx="10934760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4320064"/>
            <a:ext cx="696640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26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25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766678"/>
            <a:ext cx="4657398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766678"/>
            <a:ext cx="13702199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8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766681"/>
            <a:ext cx="1862959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3833390"/>
            <a:ext cx="1862959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3346867"/>
            <a:ext cx="485989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C3CD2-B76D-49B2-9FF8-CCCC5CE1765C}" type="datetimeFigureOut">
              <a:rPr lang="zh-CN" altLang="en-US" smtClean="0"/>
              <a:t>2026/7/14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3346867"/>
            <a:ext cx="728984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3346867"/>
            <a:ext cx="485989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A4F48-AC2B-4D1D-B14B-4AF67D78D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44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66" Type="http://schemas.openxmlformats.org/officeDocument/2006/relationships/image" Target="../media/image64.png"/><Relationship Id="rId5" Type="http://schemas.openxmlformats.org/officeDocument/2006/relationships/image" Target="../media/image3.png"/><Relationship Id="rId61" Type="http://schemas.openxmlformats.org/officeDocument/2006/relationships/image" Target="../media/image59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openxmlformats.org/officeDocument/2006/relationships/image" Target="../media/image57.png"/><Relationship Id="rId67" Type="http://schemas.openxmlformats.org/officeDocument/2006/relationships/image" Target="../media/image65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6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Relationship Id="rId57" Type="http://schemas.openxmlformats.org/officeDocument/2006/relationships/image" Target="../media/image5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67707-3E76-BC9F-4A9C-76A420B92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C7C4E43-73C9-435C-394E-3C2D9D861787}"/>
              </a:ext>
            </a:extLst>
          </p:cNvPr>
          <p:cNvSpPr/>
          <p:nvPr/>
        </p:nvSpPr>
        <p:spPr>
          <a:xfrm>
            <a:off x="595539" y="329486"/>
            <a:ext cx="20764274" cy="2148832"/>
          </a:xfrm>
          <a:prstGeom prst="roundRect">
            <a:avLst>
              <a:gd name="adj" fmla="val 9670"/>
            </a:avLst>
          </a:prstGeom>
          <a:solidFill>
            <a:schemeClr val="bg1"/>
          </a:solidFill>
          <a:ln w="28575">
            <a:solidFill>
              <a:srgbClr val="6F9B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8DEEF54-872E-029A-B5C2-26E15068D568}"/>
              </a:ext>
            </a:extLst>
          </p:cNvPr>
          <p:cNvSpPr txBox="1"/>
          <p:nvPr/>
        </p:nvSpPr>
        <p:spPr>
          <a:xfrm>
            <a:off x="5006256" y="404356"/>
            <a:ext cx="2694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2E3581"/>
                </a:solidFill>
                <a:latin typeface="+mn-ea"/>
              </a:rPr>
              <a:t>多模态城市轨迹数据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23BFDE2-42C2-161C-BBB3-6AB66F8AD718}"/>
              </a:ext>
            </a:extLst>
          </p:cNvPr>
          <p:cNvSpPr/>
          <p:nvPr/>
        </p:nvSpPr>
        <p:spPr>
          <a:xfrm>
            <a:off x="730371" y="966363"/>
            <a:ext cx="2694062" cy="1049115"/>
          </a:xfrm>
          <a:prstGeom prst="roundRect">
            <a:avLst>
              <a:gd name="adj" fmla="val 9670"/>
            </a:avLst>
          </a:prstGeom>
          <a:solidFill>
            <a:schemeClr val="bg1"/>
          </a:solidFill>
          <a:ln w="28575">
            <a:solidFill>
              <a:srgbClr val="858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56AD4682-026D-1117-ED55-22E2A4FBA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06" y="1021783"/>
            <a:ext cx="633518" cy="842017"/>
          </a:xfrm>
          <a:prstGeom prst="rect">
            <a:avLst/>
          </a:prstGeom>
        </p:spPr>
      </p:pic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C266633-A747-20D2-7B8F-E9A28CD78BA4}"/>
              </a:ext>
            </a:extLst>
          </p:cNvPr>
          <p:cNvSpPr/>
          <p:nvPr/>
        </p:nvSpPr>
        <p:spPr>
          <a:xfrm>
            <a:off x="3598468" y="966363"/>
            <a:ext cx="2694062" cy="1049115"/>
          </a:xfrm>
          <a:prstGeom prst="roundRect">
            <a:avLst>
              <a:gd name="adj" fmla="val 9670"/>
            </a:avLst>
          </a:prstGeom>
          <a:solidFill>
            <a:schemeClr val="bg1"/>
          </a:solidFill>
          <a:ln w="28575">
            <a:solidFill>
              <a:srgbClr val="858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D1FFDFF-7DF5-0EF2-E1A6-793A970BC0EF}"/>
              </a:ext>
            </a:extLst>
          </p:cNvPr>
          <p:cNvSpPr txBox="1"/>
          <p:nvPr/>
        </p:nvSpPr>
        <p:spPr>
          <a:xfrm>
            <a:off x="1536884" y="1011037"/>
            <a:ext cx="164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2E3581"/>
                </a:solidFill>
                <a:latin typeface="+mn-ea"/>
              </a:rPr>
              <a:t>POI</a:t>
            </a:r>
            <a:r>
              <a:rPr lang="zh-CN" altLang="en-US" sz="2000" b="1" dirty="0">
                <a:solidFill>
                  <a:srgbClr val="2E3581"/>
                </a:solidFill>
                <a:latin typeface="+mn-ea"/>
              </a:rPr>
              <a:t>语义数据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13438C3-91BD-57D5-D052-3DFA1A62CBCC}"/>
              </a:ext>
            </a:extLst>
          </p:cNvPr>
          <p:cNvSpPr txBox="1"/>
          <p:nvPr/>
        </p:nvSpPr>
        <p:spPr>
          <a:xfrm>
            <a:off x="1587576" y="1301979"/>
            <a:ext cx="1858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+mn-ea"/>
              </a:rPr>
              <a:t>类别、名称、图片描述、标签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B961E8B-5F26-ECDA-C032-C5AF1A3E703E}"/>
              </a:ext>
            </a:extLst>
          </p:cNvPr>
          <p:cNvSpPr txBox="1"/>
          <p:nvPr/>
        </p:nvSpPr>
        <p:spPr>
          <a:xfrm>
            <a:off x="4501819" y="1042679"/>
            <a:ext cx="164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2E3581"/>
                </a:solidFill>
                <a:latin typeface="+mn-ea"/>
              </a:rPr>
              <a:t>POI</a:t>
            </a:r>
            <a:r>
              <a:rPr lang="zh-CN" altLang="en-US" sz="2000" b="1" dirty="0">
                <a:solidFill>
                  <a:srgbClr val="2E3581"/>
                </a:solidFill>
                <a:latin typeface="+mn-ea"/>
              </a:rPr>
              <a:t>拓扑数据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EE80362-6E16-5015-EF24-151240F8C549}"/>
              </a:ext>
            </a:extLst>
          </p:cNvPr>
          <p:cNvSpPr txBox="1"/>
          <p:nvPr/>
        </p:nvSpPr>
        <p:spPr>
          <a:xfrm>
            <a:off x="4495126" y="1381134"/>
            <a:ext cx="1858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+mn-ea"/>
              </a:rPr>
              <a:t>转移统计、</a:t>
            </a:r>
            <a:r>
              <a:rPr lang="en-US" altLang="zh-CN" sz="1600" b="1" dirty="0">
                <a:latin typeface="+mn-ea"/>
              </a:rPr>
              <a:t>POI</a:t>
            </a:r>
            <a:r>
              <a:rPr lang="zh-CN" altLang="en-US" sz="1600" b="1" dirty="0">
                <a:latin typeface="+mn-ea"/>
              </a:rPr>
              <a:t>转移图、</a:t>
            </a:r>
            <a:r>
              <a:rPr lang="en-US" altLang="zh-CN" sz="1600" b="1" dirty="0">
                <a:latin typeface="+mn-ea"/>
              </a:rPr>
              <a:t>Node2Vec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20100904-7041-DF08-EED8-583AC9DE09F8}"/>
              </a:ext>
            </a:extLst>
          </p:cNvPr>
          <p:cNvSpPr/>
          <p:nvPr/>
        </p:nvSpPr>
        <p:spPr>
          <a:xfrm>
            <a:off x="6476493" y="952031"/>
            <a:ext cx="2694062" cy="1049115"/>
          </a:xfrm>
          <a:prstGeom prst="roundRect">
            <a:avLst>
              <a:gd name="adj" fmla="val 9670"/>
            </a:avLst>
          </a:prstGeom>
          <a:solidFill>
            <a:schemeClr val="bg1"/>
          </a:solidFill>
          <a:ln w="28575">
            <a:solidFill>
              <a:srgbClr val="858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A69A7E28-C691-E906-0FFF-664C68F2E329}"/>
              </a:ext>
            </a:extLst>
          </p:cNvPr>
          <p:cNvSpPr/>
          <p:nvPr/>
        </p:nvSpPr>
        <p:spPr>
          <a:xfrm>
            <a:off x="9354518" y="952031"/>
            <a:ext cx="2694062" cy="1049115"/>
          </a:xfrm>
          <a:prstGeom prst="roundRect">
            <a:avLst>
              <a:gd name="adj" fmla="val 9670"/>
            </a:avLst>
          </a:prstGeom>
          <a:solidFill>
            <a:schemeClr val="bg1"/>
          </a:solidFill>
          <a:ln w="28575">
            <a:solidFill>
              <a:srgbClr val="858F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3E5C7EE5-87AE-E01A-D7AC-4A7196112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063" y="1042679"/>
            <a:ext cx="757336" cy="891974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1DEAD44F-FF08-4A7B-16D4-6076E3AE4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5598" y="1003241"/>
            <a:ext cx="723810" cy="952381"/>
          </a:xfrm>
          <a:prstGeom prst="rect">
            <a:avLst/>
          </a:prstGeom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A76D1A89-E298-E773-7231-6625266A43F3}"/>
              </a:ext>
            </a:extLst>
          </p:cNvPr>
          <p:cNvSpPr txBox="1"/>
          <p:nvPr/>
        </p:nvSpPr>
        <p:spPr>
          <a:xfrm>
            <a:off x="7407415" y="1088556"/>
            <a:ext cx="164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2E3581"/>
                </a:solidFill>
                <a:latin typeface="+mn-ea"/>
              </a:rPr>
              <a:t>POI</a:t>
            </a:r>
            <a:r>
              <a:rPr lang="zh-CN" altLang="en-US" sz="2000" b="1" dirty="0">
                <a:solidFill>
                  <a:srgbClr val="2E3581"/>
                </a:solidFill>
                <a:latin typeface="+mn-ea"/>
              </a:rPr>
              <a:t>空间数据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1C49EDD9-45CF-F8A4-511D-60C2D68F0186}"/>
              </a:ext>
            </a:extLst>
          </p:cNvPr>
          <p:cNvSpPr txBox="1"/>
          <p:nvPr/>
        </p:nvSpPr>
        <p:spPr>
          <a:xfrm>
            <a:off x="7336404" y="1476586"/>
            <a:ext cx="1858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n-ea"/>
              </a:rPr>
              <a:t>经纬度、相对位置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4FE17508-EDDE-94CD-1024-9C387D3A4F96}"/>
              </a:ext>
            </a:extLst>
          </p:cNvPr>
          <p:cNvSpPr txBox="1"/>
          <p:nvPr/>
        </p:nvSpPr>
        <p:spPr>
          <a:xfrm>
            <a:off x="9820875" y="1020325"/>
            <a:ext cx="2243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2E3581"/>
                </a:solidFill>
                <a:latin typeface="+mn-ea"/>
              </a:rPr>
              <a:t>用户历史签到数据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2EFE338-DCF9-EEE4-451C-9271EE8E7458}"/>
              </a:ext>
            </a:extLst>
          </p:cNvPr>
          <p:cNvSpPr txBox="1"/>
          <p:nvPr/>
        </p:nvSpPr>
        <p:spPr>
          <a:xfrm>
            <a:off x="10190421" y="1334699"/>
            <a:ext cx="1858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+mn-ea"/>
              </a:rPr>
              <a:t>历史访问</a:t>
            </a:r>
            <a:r>
              <a:rPr lang="en-US" altLang="zh-CN" sz="1600" b="1" dirty="0">
                <a:latin typeface="+mn-ea"/>
              </a:rPr>
              <a:t>POI</a:t>
            </a:r>
            <a:r>
              <a:rPr lang="zh-CN" altLang="en-US" sz="1600" b="1" dirty="0">
                <a:latin typeface="+mn-ea"/>
              </a:rPr>
              <a:t>、访问时间、签到间隔</a:t>
            </a: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F1A19E52-7A77-3D80-8228-D7A8CB85B641}"/>
              </a:ext>
            </a:extLst>
          </p:cNvPr>
          <p:cNvSpPr/>
          <p:nvPr/>
        </p:nvSpPr>
        <p:spPr>
          <a:xfrm>
            <a:off x="15880069" y="477084"/>
            <a:ext cx="4989085" cy="1778435"/>
          </a:xfrm>
          <a:prstGeom prst="roundRect">
            <a:avLst>
              <a:gd name="adj" fmla="val 9670"/>
            </a:avLst>
          </a:prstGeom>
          <a:solidFill>
            <a:srgbClr val="F8FAF5"/>
          </a:solidFill>
          <a:ln w="28575">
            <a:solidFill>
              <a:srgbClr val="7B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0832243-9543-AAB2-3DA2-D31DD48EDB17}"/>
              </a:ext>
            </a:extLst>
          </p:cNvPr>
          <p:cNvSpPr txBox="1"/>
          <p:nvPr/>
        </p:nvSpPr>
        <p:spPr>
          <a:xfrm>
            <a:off x="17128099" y="551921"/>
            <a:ext cx="2694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47754B"/>
                </a:solidFill>
                <a:latin typeface="+mn-ea"/>
              </a:rPr>
              <a:t>用户画像编码（动态）</a:t>
            </a: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8FE2E54B-3D11-57D5-E306-65A226481AAB}"/>
              </a:ext>
            </a:extLst>
          </p:cNvPr>
          <p:cNvSpPr/>
          <p:nvPr/>
        </p:nvSpPr>
        <p:spPr>
          <a:xfrm>
            <a:off x="15999862" y="990659"/>
            <a:ext cx="1006112" cy="804103"/>
          </a:xfrm>
          <a:prstGeom prst="roundRect">
            <a:avLst>
              <a:gd name="adj" fmla="val 9670"/>
            </a:avLst>
          </a:prstGeom>
          <a:solidFill>
            <a:srgbClr val="F8FAF5"/>
          </a:solidFill>
          <a:ln w="28575">
            <a:solidFill>
              <a:srgbClr val="7B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78084FC7-21A8-CE50-536A-CD2EC2ABA606}"/>
              </a:ext>
            </a:extLst>
          </p:cNvPr>
          <p:cNvSpPr/>
          <p:nvPr/>
        </p:nvSpPr>
        <p:spPr>
          <a:xfrm>
            <a:off x="17184069" y="973095"/>
            <a:ext cx="1006112" cy="804103"/>
          </a:xfrm>
          <a:prstGeom prst="roundRect">
            <a:avLst>
              <a:gd name="adj" fmla="val 9670"/>
            </a:avLst>
          </a:prstGeom>
          <a:solidFill>
            <a:srgbClr val="F8FAF5"/>
          </a:solidFill>
          <a:ln w="28575">
            <a:solidFill>
              <a:srgbClr val="7B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229E45CA-8A3D-C1FA-20D1-A3A931DF1102}"/>
              </a:ext>
            </a:extLst>
          </p:cNvPr>
          <p:cNvSpPr/>
          <p:nvPr/>
        </p:nvSpPr>
        <p:spPr>
          <a:xfrm>
            <a:off x="18373445" y="973095"/>
            <a:ext cx="1006112" cy="804103"/>
          </a:xfrm>
          <a:prstGeom prst="roundRect">
            <a:avLst>
              <a:gd name="adj" fmla="val 9670"/>
            </a:avLst>
          </a:prstGeom>
          <a:solidFill>
            <a:srgbClr val="F8FAF5"/>
          </a:solidFill>
          <a:ln w="28575">
            <a:solidFill>
              <a:srgbClr val="7B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ED482023-F6A1-3AA2-E390-27785E699F29}"/>
              </a:ext>
            </a:extLst>
          </p:cNvPr>
          <p:cNvSpPr/>
          <p:nvPr/>
        </p:nvSpPr>
        <p:spPr>
          <a:xfrm>
            <a:off x="19560236" y="973095"/>
            <a:ext cx="1155455" cy="804103"/>
          </a:xfrm>
          <a:prstGeom prst="roundRect">
            <a:avLst>
              <a:gd name="adj" fmla="val 9670"/>
            </a:avLst>
          </a:prstGeom>
          <a:solidFill>
            <a:srgbClr val="F8FAF5"/>
          </a:solidFill>
          <a:ln w="28575">
            <a:solidFill>
              <a:srgbClr val="7BA4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6" name="图片 105">
            <a:extLst>
              <a:ext uri="{FF2B5EF4-FFF2-40B4-BE49-F238E27FC236}">
                <a16:creationId xmlns:a16="http://schemas.microsoft.com/office/drawing/2014/main" id="{6A5AE4B3-D99B-741B-BFD2-DA0F01ADEA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04186" y="1048158"/>
            <a:ext cx="572611" cy="479983"/>
          </a:xfrm>
          <a:prstGeom prst="rect">
            <a:avLst/>
          </a:prstGeom>
        </p:spPr>
      </p:pic>
      <p:pic>
        <p:nvPicPr>
          <p:cNvPr id="107" name="图片 106">
            <a:extLst>
              <a:ext uri="{FF2B5EF4-FFF2-40B4-BE49-F238E27FC236}">
                <a16:creationId xmlns:a16="http://schemas.microsoft.com/office/drawing/2014/main" id="{173E4AB9-4E28-8834-EDA3-B0FBD1A4D3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23685" y="1019423"/>
            <a:ext cx="465582" cy="400110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EFE40763-4311-3E4D-AF02-5E76432A6C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35969" y="1019042"/>
            <a:ext cx="465937" cy="477987"/>
          </a:xfrm>
          <a:prstGeom prst="rect">
            <a:avLst/>
          </a:prstGeom>
        </p:spPr>
      </p:pic>
      <p:pic>
        <p:nvPicPr>
          <p:cNvPr id="109" name="图片 108">
            <a:extLst>
              <a:ext uri="{FF2B5EF4-FFF2-40B4-BE49-F238E27FC236}">
                <a16:creationId xmlns:a16="http://schemas.microsoft.com/office/drawing/2014/main" id="{FEC27F90-F3F7-4048-A2C5-8F9D1B4513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66420" y="1029514"/>
            <a:ext cx="550067" cy="457041"/>
          </a:xfrm>
          <a:prstGeom prst="rect">
            <a:avLst/>
          </a:prstGeom>
        </p:spPr>
      </p:pic>
      <p:sp>
        <p:nvSpPr>
          <p:cNvPr id="116" name="文本框 115">
            <a:extLst>
              <a:ext uri="{FF2B5EF4-FFF2-40B4-BE49-F238E27FC236}">
                <a16:creationId xmlns:a16="http://schemas.microsoft.com/office/drawing/2014/main" id="{222DF2B0-8AB0-5F89-9C96-6CE735043D0A}"/>
              </a:ext>
            </a:extLst>
          </p:cNvPr>
          <p:cNvSpPr txBox="1"/>
          <p:nvPr/>
        </p:nvSpPr>
        <p:spPr>
          <a:xfrm>
            <a:off x="16006443" y="1438644"/>
            <a:ext cx="1044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n-ea"/>
              </a:rPr>
              <a:t>类别偏好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5CCC7D0B-8798-0510-650A-CEAC22017024}"/>
              </a:ext>
            </a:extLst>
          </p:cNvPr>
          <p:cNvSpPr txBox="1"/>
          <p:nvPr/>
        </p:nvSpPr>
        <p:spPr>
          <a:xfrm>
            <a:off x="17203717" y="1429088"/>
            <a:ext cx="1044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n-ea"/>
              </a:rPr>
              <a:t>时段偏好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C5F444F-7E70-6501-CDEB-527ACCCAB9E1}"/>
              </a:ext>
            </a:extLst>
          </p:cNvPr>
          <p:cNvSpPr txBox="1"/>
          <p:nvPr/>
        </p:nvSpPr>
        <p:spPr>
          <a:xfrm>
            <a:off x="18412896" y="1430769"/>
            <a:ext cx="1044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n-ea"/>
              </a:rPr>
              <a:t>空间分布</a:t>
            </a: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F27F7EE-A20E-AFD3-8869-E8835D7510FC}"/>
              </a:ext>
            </a:extLst>
          </p:cNvPr>
          <p:cNvSpPr txBox="1"/>
          <p:nvPr/>
        </p:nvSpPr>
        <p:spPr>
          <a:xfrm>
            <a:off x="19551221" y="1429285"/>
            <a:ext cx="125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+mn-ea"/>
              </a:rPr>
              <a:t>历史访问分布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C506A223-3C4F-CB60-8645-025C77FFF63D}"/>
              </a:ext>
            </a:extLst>
          </p:cNvPr>
          <p:cNvSpPr txBox="1"/>
          <p:nvPr/>
        </p:nvSpPr>
        <p:spPr>
          <a:xfrm>
            <a:off x="17410176" y="1794762"/>
            <a:ext cx="2694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ea"/>
              </a:rPr>
              <a:t>用户画像表示</a:t>
            </a:r>
          </a:p>
        </p:txBody>
      </p:sp>
      <p:pic>
        <p:nvPicPr>
          <p:cNvPr id="137" name="图片 136">
            <a:extLst>
              <a:ext uri="{FF2B5EF4-FFF2-40B4-BE49-F238E27FC236}">
                <a16:creationId xmlns:a16="http://schemas.microsoft.com/office/drawing/2014/main" id="{ACACEE4C-1D10-A6A7-B493-C63D139463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8532" y="1724531"/>
            <a:ext cx="434341" cy="534925"/>
          </a:xfrm>
          <a:prstGeom prst="rect">
            <a:avLst/>
          </a:prstGeom>
        </p:spPr>
      </p:pic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B4400DEE-465A-48EF-4EB5-32DF26A45AA6}"/>
              </a:ext>
            </a:extLst>
          </p:cNvPr>
          <p:cNvSpPr/>
          <p:nvPr/>
        </p:nvSpPr>
        <p:spPr>
          <a:xfrm>
            <a:off x="9242581" y="881206"/>
            <a:ext cx="2930903" cy="1225386"/>
          </a:xfrm>
          <a:prstGeom prst="roundRect">
            <a:avLst>
              <a:gd name="adj" fmla="val 9670"/>
            </a:avLst>
          </a:prstGeom>
          <a:noFill/>
          <a:ln w="19050">
            <a:solidFill>
              <a:srgbClr val="6F9BD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EBA538A5-7500-FE9E-A4A5-67DFBF7190B6}"/>
              </a:ext>
            </a:extLst>
          </p:cNvPr>
          <p:cNvCxnSpPr>
            <a:cxnSpLocks/>
          </p:cNvCxnSpPr>
          <p:nvPr/>
        </p:nvCxnSpPr>
        <p:spPr>
          <a:xfrm>
            <a:off x="12173484" y="1452625"/>
            <a:ext cx="3706585" cy="0"/>
          </a:xfrm>
          <a:prstGeom prst="straightConnector1">
            <a:avLst/>
          </a:prstGeom>
          <a:ln w="38100">
            <a:solidFill>
              <a:srgbClr val="2E358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CBD6A5DD-6AF5-A25A-1A00-D150E4C96C1F}"/>
              </a:ext>
            </a:extLst>
          </p:cNvPr>
          <p:cNvSpPr txBox="1"/>
          <p:nvPr/>
        </p:nvSpPr>
        <p:spPr>
          <a:xfrm>
            <a:off x="13237122" y="1079823"/>
            <a:ext cx="1271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n-ea"/>
              </a:rPr>
              <a:t>由签到序列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C6E78336-E6CA-508D-0BF5-EBCCAC88F79A}"/>
              </a:ext>
            </a:extLst>
          </p:cNvPr>
          <p:cNvSpPr txBox="1"/>
          <p:nvPr/>
        </p:nvSpPr>
        <p:spPr>
          <a:xfrm>
            <a:off x="13368504" y="1514535"/>
            <a:ext cx="1271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n-ea"/>
              </a:rPr>
              <a:t>动态计算</a:t>
            </a:r>
          </a:p>
        </p:txBody>
      </p:sp>
      <p:sp>
        <p:nvSpPr>
          <p:cNvPr id="143" name="矩形: 圆角 142">
            <a:extLst>
              <a:ext uri="{FF2B5EF4-FFF2-40B4-BE49-F238E27FC236}">
                <a16:creationId xmlns:a16="http://schemas.microsoft.com/office/drawing/2014/main" id="{4AF43EB1-0CC5-97D4-EDEE-C82122E0B999}"/>
              </a:ext>
            </a:extLst>
          </p:cNvPr>
          <p:cNvSpPr/>
          <p:nvPr/>
        </p:nvSpPr>
        <p:spPr>
          <a:xfrm>
            <a:off x="675602" y="2642262"/>
            <a:ext cx="3872198" cy="7925423"/>
          </a:xfrm>
          <a:prstGeom prst="roundRect">
            <a:avLst>
              <a:gd name="adj" fmla="val 2852"/>
            </a:avLst>
          </a:prstGeom>
          <a:solidFill>
            <a:srgbClr val="F8F7FC"/>
          </a:solidFill>
          <a:ln w="28575">
            <a:solidFill>
              <a:srgbClr val="A4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544E3953-59C3-328B-DBFD-3B57669346A2}"/>
              </a:ext>
            </a:extLst>
          </p:cNvPr>
          <p:cNvSpPr txBox="1"/>
          <p:nvPr/>
        </p:nvSpPr>
        <p:spPr>
          <a:xfrm>
            <a:off x="1185122" y="2825582"/>
            <a:ext cx="3669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239A9"/>
                </a:solidFill>
                <a:latin typeface="+mn-ea"/>
              </a:rPr>
              <a:t>多模态学习与跨模态对齐</a:t>
            </a:r>
          </a:p>
        </p:txBody>
      </p:sp>
      <p:pic>
        <p:nvPicPr>
          <p:cNvPr id="178" name="图片 177">
            <a:extLst>
              <a:ext uri="{FF2B5EF4-FFF2-40B4-BE49-F238E27FC236}">
                <a16:creationId xmlns:a16="http://schemas.microsoft.com/office/drawing/2014/main" id="{8C66CA18-D343-8CF3-1CB7-B79478BB0F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9257" y="1134709"/>
            <a:ext cx="718380" cy="718380"/>
          </a:xfrm>
          <a:prstGeom prst="rect">
            <a:avLst/>
          </a:prstGeom>
        </p:spPr>
      </p:pic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397EA2D6-6C86-7D9C-EC79-ECAF973B82EA}"/>
              </a:ext>
            </a:extLst>
          </p:cNvPr>
          <p:cNvSpPr/>
          <p:nvPr/>
        </p:nvSpPr>
        <p:spPr>
          <a:xfrm>
            <a:off x="812109" y="3470917"/>
            <a:ext cx="1152994" cy="2534756"/>
          </a:xfrm>
          <a:prstGeom prst="roundRect">
            <a:avLst>
              <a:gd name="adj" fmla="val 4840"/>
            </a:avLst>
          </a:prstGeom>
          <a:solidFill>
            <a:srgbClr val="F8F7FC"/>
          </a:solidFill>
          <a:ln w="28575">
            <a:solidFill>
              <a:srgbClr val="A4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4D0A563A-B290-BFD2-6502-D7BAFE9D5717}"/>
              </a:ext>
            </a:extLst>
          </p:cNvPr>
          <p:cNvSpPr/>
          <p:nvPr/>
        </p:nvSpPr>
        <p:spPr>
          <a:xfrm>
            <a:off x="2034249" y="3470917"/>
            <a:ext cx="1152994" cy="2534756"/>
          </a:xfrm>
          <a:prstGeom prst="roundRect">
            <a:avLst>
              <a:gd name="adj" fmla="val 4840"/>
            </a:avLst>
          </a:prstGeom>
          <a:solidFill>
            <a:srgbClr val="F8F7FC"/>
          </a:solidFill>
          <a:ln w="28575">
            <a:solidFill>
              <a:srgbClr val="A4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CB0F21DF-FF62-F37F-8FFA-33A81BFAA978}"/>
              </a:ext>
            </a:extLst>
          </p:cNvPr>
          <p:cNvSpPr/>
          <p:nvPr/>
        </p:nvSpPr>
        <p:spPr>
          <a:xfrm>
            <a:off x="3265579" y="3490673"/>
            <a:ext cx="1152994" cy="2534756"/>
          </a:xfrm>
          <a:prstGeom prst="roundRect">
            <a:avLst>
              <a:gd name="adj" fmla="val 4840"/>
            </a:avLst>
          </a:prstGeom>
          <a:solidFill>
            <a:srgbClr val="F8F7FC"/>
          </a:solidFill>
          <a:ln w="28575">
            <a:solidFill>
              <a:srgbClr val="A4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51D9103F-2792-D6D9-E571-EE853EE29952}"/>
              </a:ext>
            </a:extLst>
          </p:cNvPr>
          <p:cNvSpPr/>
          <p:nvPr/>
        </p:nvSpPr>
        <p:spPr>
          <a:xfrm>
            <a:off x="820126" y="6394741"/>
            <a:ext cx="3597414" cy="3978619"/>
          </a:xfrm>
          <a:prstGeom prst="roundRect">
            <a:avLst>
              <a:gd name="adj" fmla="val 2114"/>
            </a:avLst>
          </a:prstGeom>
          <a:solidFill>
            <a:srgbClr val="F8F7FC"/>
          </a:solidFill>
          <a:ln w="28575">
            <a:solidFill>
              <a:srgbClr val="A49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4" name="图片 193">
            <a:extLst>
              <a:ext uri="{FF2B5EF4-FFF2-40B4-BE49-F238E27FC236}">
                <a16:creationId xmlns:a16="http://schemas.microsoft.com/office/drawing/2014/main" id="{0190FFBB-F785-BDF2-24D1-2C4676C188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065" y="2800557"/>
            <a:ext cx="470221" cy="436633"/>
          </a:xfrm>
          <a:prstGeom prst="rect">
            <a:avLst/>
          </a:prstGeom>
        </p:spPr>
      </p:pic>
      <p:pic>
        <p:nvPicPr>
          <p:cNvPr id="195" name="图片 194">
            <a:extLst>
              <a:ext uri="{FF2B5EF4-FFF2-40B4-BE49-F238E27FC236}">
                <a16:creationId xmlns:a16="http://schemas.microsoft.com/office/drawing/2014/main" id="{2F582121-82C4-2ED3-1751-0F74310CEC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4733" y="3769944"/>
            <a:ext cx="532729" cy="497214"/>
          </a:xfrm>
          <a:prstGeom prst="rect">
            <a:avLst/>
          </a:prstGeom>
        </p:spPr>
      </p:pic>
      <p:pic>
        <p:nvPicPr>
          <p:cNvPr id="196" name="图片 195">
            <a:extLst>
              <a:ext uri="{FF2B5EF4-FFF2-40B4-BE49-F238E27FC236}">
                <a16:creationId xmlns:a16="http://schemas.microsoft.com/office/drawing/2014/main" id="{4ADA7B0D-FD59-8CC9-6794-1F5DCE2311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64358" y="3785245"/>
            <a:ext cx="472262" cy="445016"/>
          </a:xfrm>
          <a:prstGeom prst="rect">
            <a:avLst/>
          </a:prstGeom>
        </p:spPr>
      </p:pic>
      <p:pic>
        <p:nvPicPr>
          <p:cNvPr id="197" name="图片 196">
            <a:extLst>
              <a:ext uri="{FF2B5EF4-FFF2-40B4-BE49-F238E27FC236}">
                <a16:creationId xmlns:a16="http://schemas.microsoft.com/office/drawing/2014/main" id="{B26368D2-0ED7-7605-93A6-C6900526823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48739" y="3784935"/>
            <a:ext cx="558041" cy="563407"/>
          </a:xfrm>
          <a:prstGeom prst="rect">
            <a:avLst/>
          </a:prstGeom>
        </p:spPr>
      </p:pic>
      <p:sp>
        <p:nvSpPr>
          <p:cNvPr id="198" name="文本框 197">
            <a:extLst>
              <a:ext uri="{FF2B5EF4-FFF2-40B4-BE49-F238E27FC236}">
                <a16:creationId xmlns:a16="http://schemas.microsoft.com/office/drawing/2014/main" id="{ADED77E6-15CB-8288-758C-2BF5B1C463CA}"/>
              </a:ext>
            </a:extLst>
          </p:cNvPr>
          <p:cNvSpPr txBox="1"/>
          <p:nvPr/>
        </p:nvSpPr>
        <p:spPr>
          <a:xfrm>
            <a:off x="761343" y="4290090"/>
            <a:ext cx="127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类别嵌入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文本特征投影</a:t>
            </a: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560D60E3-F333-9CCA-A6E1-45541E9F49CA}"/>
              </a:ext>
            </a:extLst>
          </p:cNvPr>
          <p:cNvSpPr txBox="1"/>
          <p:nvPr/>
        </p:nvSpPr>
        <p:spPr>
          <a:xfrm>
            <a:off x="1974293" y="4284628"/>
            <a:ext cx="12729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转移统计投影</a:t>
            </a:r>
            <a:br>
              <a:rPr lang="en-US" altLang="zh-CN" sz="1400" b="1" dirty="0">
                <a:latin typeface="+mn-ea"/>
              </a:rPr>
            </a:br>
            <a:r>
              <a:rPr lang="en-US" altLang="zh-CN" sz="1400" b="1" dirty="0">
                <a:latin typeface="+mn-ea"/>
              </a:rPr>
              <a:t>+Node2Vec</a:t>
            </a:r>
            <a:r>
              <a:rPr lang="zh-CN" altLang="en-US" sz="1400" b="1" dirty="0">
                <a:latin typeface="+mn-ea"/>
              </a:rPr>
              <a:t>嵌入</a:t>
            </a: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AB0EC6DD-2238-09C8-A790-A50EDE983E22}"/>
              </a:ext>
            </a:extLst>
          </p:cNvPr>
          <p:cNvSpPr txBox="1"/>
          <p:nvPr/>
        </p:nvSpPr>
        <p:spPr>
          <a:xfrm>
            <a:off x="3205623" y="4392760"/>
            <a:ext cx="127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n-ea"/>
              </a:rPr>
              <a:t>GPS</a:t>
            </a:r>
            <a:r>
              <a:rPr lang="zh-CN" altLang="en-US" sz="1400" b="1" dirty="0">
                <a:latin typeface="+mn-ea"/>
              </a:rPr>
              <a:t>坐标</a:t>
            </a:r>
            <a:br>
              <a:rPr lang="en-US" altLang="zh-CN" sz="1400" b="1" dirty="0">
                <a:latin typeface="+mn-ea"/>
              </a:rPr>
            </a:br>
            <a:r>
              <a:rPr lang="en-US" altLang="zh-CN" sz="1400" b="1" dirty="0">
                <a:latin typeface="+mn-ea"/>
              </a:rPr>
              <a:t>MLP</a:t>
            </a:r>
            <a:endParaRPr lang="zh-CN" altLang="en-US" sz="1400" b="1" dirty="0">
              <a:latin typeface="+mn-ea"/>
            </a:endParaRPr>
          </a:p>
        </p:txBody>
      </p:sp>
      <p:pic>
        <p:nvPicPr>
          <p:cNvPr id="202" name="图片 201">
            <a:extLst>
              <a:ext uri="{FF2B5EF4-FFF2-40B4-BE49-F238E27FC236}">
                <a16:creationId xmlns:a16="http://schemas.microsoft.com/office/drawing/2014/main" id="{AE13524D-83E4-FD62-1D2B-C3D9140DE5F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4611" y="4966375"/>
            <a:ext cx="972711" cy="604658"/>
          </a:xfrm>
          <a:prstGeom prst="rect">
            <a:avLst/>
          </a:prstGeom>
        </p:spPr>
      </p:pic>
      <p:pic>
        <p:nvPicPr>
          <p:cNvPr id="203" name="图片 202">
            <a:extLst>
              <a:ext uri="{FF2B5EF4-FFF2-40B4-BE49-F238E27FC236}">
                <a16:creationId xmlns:a16="http://schemas.microsoft.com/office/drawing/2014/main" id="{E2CE9BE0-7285-20F4-23A1-36B88FB6DED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14134" y="4984133"/>
            <a:ext cx="972711" cy="604658"/>
          </a:xfrm>
          <a:prstGeom prst="rect">
            <a:avLst/>
          </a:prstGeom>
        </p:spPr>
      </p:pic>
      <p:pic>
        <p:nvPicPr>
          <p:cNvPr id="204" name="图片 203">
            <a:extLst>
              <a:ext uri="{FF2B5EF4-FFF2-40B4-BE49-F238E27FC236}">
                <a16:creationId xmlns:a16="http://schemas.microsoft.com/office/drawing/2014/main" id="{CBCEF7A3-BEE5-BD41-3A05-176639797F0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55720" y="4984133"/>
            <a:ext cx="972711" cy="604658"/>
          </a:xfrm>
          <a:prstGeom prst="rect">
            <a:avLst/>
          </a:prstGeom>
        </p:spPr>
      </p:pic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9AC027FE-AAC3-1AB8-7702-7D32D0025228}"/>
              </a:ext>
            </a:extLst>
          </p:cNvPr>
          <p:cNvCxnSpPr>
            <a:cxnSpLocks/>
          </p:cNvCxnSpPr>
          <p:nvPr/>
        </p:nvCxnSpPr>
        <p:spPr>
          <a:xfrm>
            <a:off x="1351496" y="5970343"/>
            <a:ext cx="0" cy="4243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AD515650-ECD1-7CBF-F241-7F3DE4616FDA}"/>
              </a:ext>
            </a:extLst>
          </p:cNvPr>
          <p:cNvCxnSpPr>
            <a:cxnSpLocks/>
          </p:cNvCxnSpPr>
          <p:nvPr/>
        </p:nvCxnSpPr>
        <p:spPr>
          <a:xfrm>
            <a:off x="2575776" y="6005323"/>
            <a:ext cx="0" cy="4243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B2B4B8D6-BAF5-E283-983E-0F229DAE69A6}"/>
              </a:ext>
            </a:extLst>
          </p:cNvPr>
          <p:cNvCxnSpPr>
            <a:cxnSpLocks/>
          </p:cNvCxnSpPr>
          <p:nvPr/>
        </p:nvCxnSpPr>
        <p:spPr>
          <a:xfrm>
            <a:off x="3800222" y="6005323"/>
            <a:ext cx="0" cy="4243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左大括号 219">
            <a:extLst>
              <a:ext uri="{FF2B5EF4-FFF2-40B4-BE49-F238E27FC236}">
                <a16:creationId xmlns:a16="http://schemas.microsoft.com/office/drawing/2014/main" id="{0A7957AA-655B-E471-8ED1-B9CC2F7165E2}"/>
              </a:ext>
            </a:extLst>
          </p:cNvPr>
          <p:cNvSpPr/>
          <p:nvPr/>
        </p:nvSpPr>
        <p:spPr>
          <a:xfrm rot="16200000">
            <a:off x="4561133" y="-2039189"/>
            <a:ext cx="767716" cy="8595183"/>
          </a:xfrm>
          <a:prstGeom prst="leftBrace">
            <a:avLst>
              <a:gd name="adj1" fmla="val 8333"/>
              <a:gd name="adj2" fmla="val 24795"/>
            </a:avLst>
          </a:prstGeom>
          <a:ln w="38100">
            <a:solidFill>
              <a:srgbClr val="623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1" name="图片 220">
            <a:extLst>
              <a:ext uri="{FF2B5EF4-FFF2-40B4-BE49-F238E27FC236}">
                <a16:creationId xmlns:a16="http://schemas.microsoft.com/office/drawing/2014/main" id="{31C98381-38EB-BDF7-EEA2-FDFC6E2279E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420" y="6896914"/>
            <a:ext cx="3263392" cy="1165497"/>
          </a:xfrm>
          <a:prstGeom prst="rect">
            <a:avLst/>
          </a:prstGeom>
        </p:spPr>
      </p:pic>
      <p:sp>
        <p:nvSpPr>
          <p:cNvPr id="222" name="文本框 221">
            <a:extLst>
              <a:ext uri="{FF2B5EF4-FFF2-40B4-BE49-F238E27FC236}">
                <a16:creationId xmlns:a16="http://schemas.microsoft.com/office/drawing/2014/main" id="{90D2350A-A499-3010-D14F-EDBBD9E058DE}"/>
              </a:ext>
            </a:extLst>
          </p:cNvPr>
          <p:cNvSpPr txBox="1"/>
          <p:nvPr/>
        </p:nvSpPr>
        <p:spPr>
          <a:xfrm>
            <a:off x="831540" y="3480308"/>
            <a:ext cx="11843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6239A9"/>
                </a:solidFill>
                <a:latin typeface="+mn-ea"/>
              </a:rPr>
              <a:t>A.</a:t>
            </a:r>
            <a:r>
              <a:rPr lang="zh-CN" altLang="en-US" sz="1600" b="1" dirty="0">
                <a:solidFill>
                  <a:srgbClr val="6239A9"/>
                </a:solidFill>
                <a:latin typeface="+mn-ea"/>
              </a:rPr>
              <a:t>语义编码</a:t>
            </a: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43B1557B-5207-019C-9D13-3C3CA085D3C2}"/>
              </a:ext>
            </a:extLst>
          </p:cNvPr>
          <p:cNvSpPr txBox="1"/>
          <p:nvPr/>
        </p:nvSpPr>
        <p:spPr>
          <a:xfrm>
            <a:off x="2056378" y="3482174"/>
            <a:ext cx="1202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6239A9"/>
                </a:solidFill>
                <a:latin typeface="+mn-ea"/>
              </a:rPr>
              <a:t>B.</a:t>
            </a:r>
            <a:r>
              <a:rPr lang="zh-CN" altLang="en-US" sz="1600" b="1" dirty="0">
                <a:solidFill>
                  <a:srgbClr val="6239A9"/>
                </a:solidFill>
                <a:latin typeface="+mn-ea"/>
              </a:rPr>
              <a:t>拓扑编码</a:t>
            </a: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66B5245F-EFB3-AE3F-F2AD-454CBC6EEA32}"/>
              </a:ext>
            </a:extLst>
          </p:cNvPr>
          <p:cNvSpPr txBox="1"/>
          <p:nvPr/>
        </p:nvSpPr>
        <p:spPr>
          <a:xfrm>
            <a:off x="3258229" y="3499417"/>
            <a:ext cx="1188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6239A9"/>
                </a:solidFill>
                <a:latin typeface="+mn-ea"/>
              </a:rPr>
              <a:t>C.</a:t>
            </a:r>
            <a:r>
              <a:rPr lang="zh-CN" altLang="en-US" sz="1600" b="1" dirty="0">
                <a:solidFill>
                  <a:srgbClr val="6239A9"/>
                </a:solidFill>
                <a:latin typeface="+mn-ea"/>
              </a:rPr>
              <a:t>空间编码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953230D6-245A-8232-99EB-91D1C07B6916}"/>
              </a:ext>
            </a:extLst>
          </p:cNvPr>
          <p:cNvSpPr txBox="1"/>
          <p:nvPr/>
        </p:nvSpPr>
        <p:spPr>
          <a:xfrm>
            <a:off x="1678988" y="6509288"/>
            <a:ext cx="1951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6239A9"/>
                </a:solidFill>
                <a:latin typeface="+mn-ea"/>
              </a:rPr>
              <a:t>跨模态注意力交互</a:t>
            </a:r>
          </a:p>
        </p:txBody>
      </p:sp>
      <p:pic>
        <p:nvPicPr>
          <p:cNvPr id="228" name="图片 227">
            <a:extLst>
              <a:ext uri="{FF2B5EF4-FFF2-40B4-BE49-F238E27FC236}">
                <a16:creationId xmlns:a16="http://schemas.microsoft.com/office/drawing/2014/main" id="{305F84C0-414E-4E05-9B6F-4BCE8791CF8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967" y="8083745"/>
            <a:ext cx="582657" cy="574676"/>
          </a:xfrm>
          <a:prstGeom prst="rect">
            <a:avLst/>
          </a:prstGeom>
        </p:spPr>
      </p:pic>
      <p:pic>
        <p:nvPicPr>
          <p:cNvPr id="230" name="图片 229">
            <a:extLst>
              <a:ext uri="{FF2B5EF4-FFF2-40B4-BE49-F238E27FC236}">
                <a16:creationId xmlns:a16="http://schemas.microsoft.com/office/drawing/2014/main" id="{047A6EDC-B9C6-A6DF-E9EE-C14E03A2779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061" y="8083745"/>
            <a:ext cx="597817" cy="574676"/>
          </a:xfrm>
          <a:prstGeom prst="rect">
            <a:avLst/>
          </a:prstGeom>
        </p:spPr>
      </p:pic>
      <p:pic>
        <p:nvPicPr>
          <p:cNvPr id="232" name="图片 231">
            <a:extLst>
              <a:ext uri="{FF2B5EF4-FFF2-40B4-BE49-F238E27FC236}">
                <a16:creationId xmlns:a16="http://schemas.microsoft.com/office/drawing/2014/main" id="{BB26FA34-54E4-4F93-3C64-4656FD15F40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537" y="8083745"/>
            <a:ext cx="558713" cy="574676"/>
          </a:xfrm>
          <a:prstGeom prst="rect">
            <a:avLst/>
          </a:prstGeom>
        </p:spPr>
      </p:pic>
      <p:sp>
        <p:nvSpPr>
          <p:cNvPr id="233" name="矩形: 圆角 232">
            <a:extLst>
              <a:ext uri="{FF2B5EF4-FFF2-40B4-BE49-F238E27FC236}">
                <a16:creationId xmlns:a16="http://schemas.microsoft.com/office/drawing/2014/main" id="{0D3D6F78-3640-E99A-20A0-3D9F3798C4EA}"/>
              </a:ext>
            </a:extLst>
          </p:cNvPr>
          <p:cNvSpPr/>
          <p:nvPr/>
        </p:nvSpPr>
        <p:spPr>
          <a:xfrm>
            <a:off x="1112775" y="8576796"/>
            <a:ext cx="2992054" cy="1473180"/>
          </a:xfrm>
          <a:prstGeom prst="roundRect">
            <a:avLst>
              <a:gd name="adj" fmla="val 7804"/>
            </a:avLst>
          </a:prstGeom>
          <a:solidFill>
            <a:schemeClr val="bg1"/>
          </a:solidFill>
          <a:ln w="28575">
            <a:solidFill>
              <a:srgbClr val="A493D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4" name="图片 233">
            <a:extLst>
              <a:ext uri="{FF2B5EF4-FFF2-40B4-BE49-F238E27FC236}">
                <a16:creationId xmlns:a16="http://schemas.microsoft.com/office/drawing/2014/main" id="{1B490C68-9048-0AFA-4F62-2A6FC549713C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3710" t="8706" r="3950"/>
          <a:stretch>
            <a:fillRect/>
          </a:stretch>
        </p:blipFill>
        <p:spPr>
          <a:xfrm>
            <a:off x="1203583" y="8859213"/>
            <a:ext cx="2885667" cy="1165496"/>
          </a:xfrm>
          <a:prstGeom prst="rect">
            <a:avLst/>
          </a:prstGeom>
        </p:spPr>
      </p:pic>
      <p:sp>
        <p:nvSpPr>
          <p:cNvPr id="235" name="文本框 234">
            <a:extLst>
              <a:ext uri="{FF2B5EF4-FFF2-40B4-BE49-F238E27FC236}">
                <a16:creationId xmlns:a16="http://schemas.microsoft.com/office/drawing/2014/main" id="{ACA751FF-B839-7592-0731-6E38462E2A92}"/>
              </a:ext>
            </a:extLst>
          </p:cNvPr>
          <p:cNvSpPr txBox="1"/>
          <p:nvPr/>
        </p:nvSpPr>
        <p:spPr>
          <a:xfrm>
            <a:off x="1782619" y="8598419"/>
            <a:ext cx="1682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6239A9"/>
                </a:solidFill>
                <a:latin typeface="+mn-ea"/>
              </a:rPr>
              <a:t>跨模态对齐损失</a:t>
            </a:r>
          </a:p>
        </p:txBody>
      </p:sp>
      <p:sp>
        <p:nvSpPr>
          <p:cNvPr id="237" name="矩形: 圆角 236">
            <a:extLst>
              <a:ext uri="{FF2B5EF4-FFF2-40B4-BE49-F238E27FC236}">
                <a16:creationId xmlns:a16="http://schemas.microsoft.com/office/drawing/2014/main" id="{06822EF6-8AFE-F16D-7884-C0187F900035}"/>
              </a:ext>
            </a:extLst>
          </p:cNvPr>
          <p:cNvSpPr/>
          <p:nvPr/>
        </p:nvSpPr>
        <p:spPr>
          <a:xfrm>
            <a:off x="4659869" y="2623691"/>
            <a:ext cx="3539422" cy="7925423"/>
          </a:xfrm>
          <a:prstGeom prst="roundRect">
            <a:avLst>
              <a:gd name="adj" fmla="val 2852"/>
            </a:avLst>
          </a:prstGeom>
          <a:solidFill>
            <a:srgbClr val="FEFEFE"/>
          </a:solidFill>
          <a:ln w="28575">
            <a:solidFill>
              <a:srgbClr val="7A99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E0B6C220-7E1D-D5C0-2F6F-3EB995FDDA84}"/>
              </a:ext>
            </a:extLst>
          </p:cNvPr>
          <p:cNvSpPr txBox="1"/>
          <p:nvPr/>
        </p:nvSpPr>
        <p:spPr>
          <a:xfrm>
            <a:off x="5073983" y="2783940"/>
            <a:ext cx="3056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385F2D"/>
                </a:solidFill>
                <a:latin typeface="+mn-ea"/>
              </a:rPr>
              <a:t>上下文感知的自适应融合</a:t>
            </a: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DE35EE85-A51C-4A20-00FB-2D37B58CAC5B}"/>
              </a:ext>
            </a:extLst>
          </p:cNvPr>
          <p:cNvSpPr txBox="1"/>
          <p:nvPr/>
        </p:nvSpPr>
        <p:spPr>
          <a:xfrm>
            <a:off x="5505230" y="3148246"/>
            <a:ext cx="2694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</a:rPr>
              <a:t>用户画像表示</a:t>
            </a:r>
          </a:p>
        </p:txBody>
      </p:sp>
      <p:pic>
        <p:nvPicPr>
          <p:cNvPr id="240" name="图片 239">
            <a:extLst>
              <a:ext uri="{FF2B5EF4-FFF2-40B4-BE49-F238E27FC236}">
                <a16:creationId xmlns:a16="http://schemas.microsoft.com/office/drawing/2014/main" id="{0653709C-AFAE-95CE-EDC3-C7DBADAB94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985" y="3117636"/>
            <a:ext cx="383480" cy="472285"/>
          </a:xfrm>
          <a:prstGeom prst="rect">
            <a:avLst/>
          </a:prstGeom>
        </p:spPr>
      </p:pic>
      <p:pic>
        <p:nvPicPr>
          <p:cNvPr id="241" name="图片 240">
            <a:extLst>
              <a:ext uri="{FF2B5EF4-FFF2-40B4-BE49-F238E27FC236}">
                <a16:creationId xmlns:a16="http://schemas.microsoft.com/office/drawing/2014/main" id="{DAEB6B4F-196E-EE66-A79C-9253CA84815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00282" y="2752694"/>
            <a:ext cx="508899" cy="413106"/>
          </a:xfrm>
          <a:prstGeom prst="rect">
            <a:avLst/>
          </a:prstGeom>
        </p:spPr>
      </p:pic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618B8009-EFFB-1334-2326-EDC9FC43555F}"/>
              </a:ext>
            </a:extLst>
          </p:cNvPr>
          <p:cNvGrpSpPr/>
          <p:nvPr/>
        </p:nvGrpSpPr>
        <p:grpSpPr>
          <a:xfrm>
            <a:off x="5305882" y="3534333"/>
            <a:ext cx="2133374" cy="257235"/>
            <a:chOff x="1346612" y="11702005"/>
            <a:chExt cx="2133374" cy="257235"/>
          </a:xfrm>
        </p:grpSpPr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62ABFDD9-5249-EF6C-49BB-651873596C09}"/>
                </a:ext>
              </a:extLst>
            </p:cNvPr>
            <p:cNvSpPr/>
            <p:nvPr/>
          </p:nvSpPr>
          <p:spPr>
            <a:xfrm>
              <a:off x="1346612" y="11702005"/>
              <a:ext cx="240964" cy="257235"/>
            </a:xfrm>
            <a:prstGeom prst="rect">
              <a:avLst/>
            </a:prstGeom>
            <a:solidFill>
              <a:srgbClr val="CCDAC0"/>
            </a:solidFill>
            <a:ln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E2AC2AC5-EC39-1511-C6D2-9AB328B5A256}"/>
                </a:ext>
              </a:extLst>
            </p:cNvPr>
            <p:cNvSpPr/>
            <p:nvPr/>
          </p:nvSpPr>
          <p:spPr>
            <a:xfrm>
              <a:off x="1587575" y="11702005"/>
              <a:ext cx="240964" cy="257235"/>
            </a:xfrm>
            <a:prstGeom prst="rect">
              <a:avLst/>
            </a:prstGeom>
            <a:solidFill>
              <a:srgbClr val="CCDAC0"/>
            </a:solidFill>
            <a:ln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DA3B1C84-E298-391B-A9E3-A5CE31F65F34}"/>
                </a:ext>
              </a:extLst>
            </p:cNvPr>
            <p:cNvSpPr/>
            <p:nvPr/>
          </p:nvSpPr>
          <p:spPr>
            <a:xfrm>
              <a:off x="1816437" y="11702005"/>
              <a:ext cx="240964" cy="257235"/>
            </a:xfrm>
            <a:prstGeom prst="rect">
              <a:avLst/>
            </a:prstGeom>
            <a:solidFill>
              <a:srgbClr val="CCDAC0"/>
            </a:solidFill>
            <a:ln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032B0A2D-7D2F-B5CB-A27C-D2C78BFEEB5A}"/>
                </a:ext>
              </a:extLst>
            </p:cNvPr>
            <p:cNvSpPr/>
            <p:nvPr/>
          </p:nvSpPr>
          <p:spPr>
            <a:xfrm>
              <a:off x="2057400" y="11702005"/>
              <a:ext cx="240964" cy="257235"/>
            </a:xfrm>
            <a:prstGeom prst="rect">
              <a:avLst/>
            </a:prstGeom>
            <a:solidFill>
              <a:srgbClr val="CCDAC0"/>
            </a:solidFill>
            <a:ln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4659D642-84B7-58A9-A57C-9908BDD66D73}"/>
                </a:ext>
              </a:extLst>
            </p:cNvPr>
            <p:cNvSpPr/>
            <p:nvPr/>
          </p:nvSpPr>
          <p:spPr>
            <a:xfrm>
              <a:off x="2285962" y="11702005"/>
              <a:ext cx="240964" cy="257235"/>
            </a:xfrm>
            <a:prstGeom prst="rect">
              <a:avLst/>
            </a:prstGeom>
            <a:solidFill>
              <a:srgbClr val="CCDAC0"/>
            </a:solidFill>
            <a:ln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0F39B1C3-79EA-A71F-8CDE-3828A190516E}"/>
                </a:ext>
              </a:extLst>
            </p:cNvPr>
            <p:cNvSpPr/>
            <p:nvPr/>
          </p:nvSpPr>
          <p:spPr>
            <a:xfrm>
              <a:off x="2526925" y="11702005"/>
              <a:ext cx="240964" cy="257235"/>
            </a:xfrm>
            <a:prstGeom prst="rect">
              <a:avLst/>
            </a:prstGeom>
            <a:solidFill>
              <a:srgbClr val="CCDAC0"/>
            </a:solidFill>
            <a:ln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矩形 258">
              <a:extLst>
                <a:ext uri="{FF2B5EF4-FFF2-40B4-BE49-F238E27FC236}">
                  <a16:creationId xmlns:a16="http://schemas.microsoft.com/office/drawing/2014/main" id="{B50FDC44-F751-B8EC-06BE-8CBE4BF630DF}"/>
                </a:ext>
              </a:extLst>
            </p:cNvPr>
            <p:cNvSpPr/>
            <p:nvPr/>
          </p:nvSpPr>
          <p:spPr>
            <a:xfrm>
              <a:off x="2755787" y="11702005"/>
              <a:ext cx="240964" cy="257235"/>
            </a:xfrm>
            <a:prstGeom prst="rect">
              <a:avLst/>
            </a:prstGeom>
            <a:solidFill>
              <a:srgbClr val="CCDAC0"/>
            </a:solidFill>
            <a:ln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矩形 259">
              <a:extLst>
                <a:ext uri="{FF2B5EF4-FFF2-40B4-BE49-F238E27FC236}">
                  <a16:creationId xmlns:a16="http://schemas.microsoft.com/office/drawing/2014/main" id="{C2000D2A-D177-83FD-E475-11B191D550F6}"/>
                </a:ext>
              </a:extLst>
            </p:cNvPr>
            <p:cNvSpPr/>
            <p:nvPr/>
          </p:nvSpPr>
          <p:spPr>
            <a:xfrm>
              <a:off x="2996750" y="11702005"/>
              <a:ext cx="240964" cy="257235"/>
            </a:xfrm>
            <a:prstGeom prst="rect">
              <a:avLst/>
            </a:prstGeom>
            <a:solidFill>
              <a:srgbClr val="CCDAC0"/>
            </a:solidFill>
            <a:ln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0FB104A7-2C99-4D8A-BB3A-5B7D607E91AE}"/>
                </a:ext>
              </a:extLst>
            </p:cNvPr>
            <p:cNvSpPr/>
            <p:nvPr/>
          </p:nvSpPr>
          <p:spPr>
            <a:xfrm>
              <a:off x="3239022" y="11702005"/>
              <a:ext cx="240964" cy="2572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2" name="直接箭头连接符 261">
            <a:extLst>
              <a:ext uri="{FF2B5EF4-FFF2-40B4-BE49-F238E27FC236}">
                <a16:creationId xmlns:a16="http://schemas.microsoft.com/office/drawing/2014/main" id="{690DCAAE-3F78-A079-9936-D6C8579AD914}"/>
              </a:ext>
            </a:extLst>
          </p:cNvPr>
          <p:cNvCxnSpPr>
            <a:cxnSpLocks/>
          </p:cNvCxnSpPr>
          <p:nvPr/>
        </p:nvCxnSpPr>
        <p:spPr>
          <a:xfrm>
            <a:off x="6373548" y="3820530"/>
            <a:ext cx="0" cy="3063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矩形: 圆角 262">
            <a:extLst>
              <a:ext uri="{FF2B5EF4-FFF2-40B4-BE49-F238E27FC236}">
                <a16:creationId xmlns:a16="http://schemas.microsoft.com/office/drawing/2014/main" id="{0A9C7F31-97A8-F6EF-F43D-126871CF4122}"/>
              </a:ext>
            </a:extLst>
          </p:cNvPr>
          <p:cNvSpPr/>
          <p:nvPr/>
        </p:nvSpPr>
        <p:spPr>
          <a:xfrm>
            <a:off x="5328873" y="4118805"/>
            <a:ext cx="2167345" cy="1459186"/>
          </a:xfrm>
          <a:prstGeom prst="roundRect">
            <a:avLst>
              <a:gd name="adj" fmla="val 2852"/>
            </a:avLst>
          </a:prstGeom>
          <a:solidFill>
            <a:srgbClr val="FEFEFE"/>
          </a:solidFill>
          <a:ln w="28575">
            <a:solidFill>
              <a:srgbClr val="7A99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E84D7AFE-74D8-E905-BB93-6C05BB00BC8B}"/>
              </a:ext>
            </a:extLst>
          </p:cNvPr>
          <p:cNvSpPr txBox="1"/>
          <p:nvPr/>
        </p:nvSpPr>
        <p:spPr>
          <a:xfrm>
            <a:off x="5848880" y="4160430"/>
            <a:ext cx="1243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385F2D"/>
                </a:solidFill>
                <a:latin typeface="+mn-ea"/>
              </a:rPr>
              <a:t>门控网络</a:t>
            </a:r>
          </a:p>
        </p:txBody>
      </p:sp>
      <p:grpSp>
        <p:nvGrpSpPr>
          <p:cNvPr id="282" name="组合 281">
            <a:extLst>
              <a:ext uri="{FF2B5EF4-FFF2-40B4-BE49-F238E27FC236}">
                <a16:creationId xmlns:a16="http://schemas.microsoft.com/office/drawing/2014/main" id="{39BA1E93-CC6B-CBEA-8B5F-06D289789487}"/>
              </a:ext>
            </a:extLst>
          </p:cNvPr>
          <p:cNvGrpSpPr/>
          <p:nvPr/>
        </p:nvGrpSpPr>
        <p:grpSpPr>
          <a:xfrm>
            <a:off x="5489461" y="4495579"/>
            <a:ext cx="1811530" cy="1020064"/>
            <a:chOff x="4817991" y="11356177"/>
            <a:chExt cx="1811530" cy="1020064"/>
          </a:xfrm>
        </p:grpSpPr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2B6AA3CF-74B4-3F3D-80C0-AEA56E2A1EF4}"/>
                </a:ext>
              </a:extLst>
            </p:cNvPr>
            <p:cNvSpPr/>
            <p:nvPr/>
          </p:nvSpPr>
          <p:spPr>
            <a:xfrm>
              <a:off x="5723756" y="11484864"/>
              <a:ext cx="778765" cy="767717"/>
            </a:xfrm>
            <a:prstGeom prst="rect">
              <a:avLst/>
            </a:prstGeom>
            <a:solidFill>
              <a:srgbClr val="FEFEFE"/>
            </a:solidFill>
            <a:ln w="28575"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E716EE48-6F70-9BC1-D04E-0782C439607D}"/>
                </a:ext>
              </a:extLst>
            </p:cNvPr>
            <p:cNvCxnSpPr/>
            <p:nvPr/>
          </p:nvCxnSpPr>
          <p:spPr>
            <a:xfrm flipH="1">
              <a:off x="5723756" y="11495024"/>
              <a:ext cx="778765" cy="751840"/>
            </a:xfrm>
            <a:prstGeom prst="line">
              <a:avLst/>
            </a:prstGeom>
            <a:ln w="28575">
              <a:solidFill>
                <a:srgbClr val="7B96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E44A24AC-8CFC-E7F0-2AB3-4B50253C851B}"/>
                </a:ext>
              </a:extLst>
            </p:cNvPr>
            <p:cNvSpPr/>
            <p:nvPr/>
          </p:nvSpPr>
          <p:spPr>
            <a:xfrm>
              <a:off x="6375521" y="11356177"/>
              <a:ext cx="254000" cy="254000"/>
            </a:xfrm>
            <a:prstGeom prst="ellipse">
              <a:avLst/>
            </a:prstGeom>
            <a:solidFill>
              <a:srgbClr val="FEFEFE"/>
            </a:solidFill>
            <a:ln w="28575"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EC01E825-9649-D7B0-FED4-5F415F1AACDC}"/>
                </a:ext>
              </a:extLst>
            </p:cNvPr>
            <p:cNvCxnSpPr>
              <a:cxnSpLocks/>
            </p:cNvCxnSpPr>
            <p:nvPr/>
          </p:nvCxnSpPr>
          <p:spPr>
            <a:xfrm>
              <a:off x="5723756" y="11488928"/>
              <a:ext cx="778765" cy="751840"/>
            </a:xfrm>
            <a:prstGeom prst="line">
              <a:avLst/>
            </a:prstGeom>
            <a:ln w="28575">
              <a:solidFill>
                <a:srgbClr val="7B96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140A713F-59B0-F1A7-550C-31A5E38378A0}"/>
                </a:ext>
              </a:extLst>
            </p:cNvPr>
            <p:cNvSpPr/>
            <p:nvPr/>
          </p:nvSpPr>
          <p:spPr>
            <a:xfrm>
              <a:off x="6375521" y="12116145"/>
              <a:ext cx="254000" cy="254000"/>
            </a:xfrm>
            <a:prstGeom prst="ellipse">
              <a:avLst/>
            </a:prstGeom>
            <a:solidFill>
              <a:srgbClr val="FEFEFE"/>
            </a:solidFill>
            <a:ln w="28575"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7DC10A9D-4A5C-5B87-565A-352B1EEA66BE}"/>
                </a:ext>
              </a:extLst>
            </p:cNvPr>
            <p:cNvSpPr/>
            <p:nvPr/>
          </p:nvSpPr>
          <p:spPr>
            <a:xfrm>
              <a:off x="4944991" y="11490960"/>
              <a:ext cx="778765" cy="767717"/>
            </a:xfrm>
            <a:prstGeom prst="rect">
              <a:avLst/>
            </a:prstGeom>
            <a:solidFill>
              <a:srgbClr val="FEFEFE"/>
            </a:solidFill>
            <a:ln w="28575"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E739C2E0-5E31-A767-665B-EB65160BBA94}"/>
                </a:ext>
              </a:extLst>
            </p:cNvPr>
            <p:cNvCxnSpPr/>
            <p:nvPr/>
          </p:nvCxnSpPr>
          <p:spPr>
            <a:xfrm flipH="1">
              <a:off x="4944991" y="11501120"/>
              <a:ext cx="778765" cy="751840"/>
            </a:xfrm>
            <a:prstGeom prst="line">
              <a:avLst/>
            </a:prstGeom>
            <a:ln w="28575">
              <a:solidFill>
                <a:srgbClr val="7B96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6CD2D5BC-1136-0CF4-307D-052858396AD7}"/>
                </a:ext>
              </a:extLst>
            </p:cNvPr>
            <p:cNvSpPr/>
            <p:nvPr/>
          </p:nvSpPr>
          <p:spPr>
            <a:xfrm>
              <a:off x="5596756" y="11362273"/>
              <a:ext cx="254000" cy="254000"/>
            </a:xfrm>
            <a:prstGeom prst="ellipse">
              <a:avLst/>
            </a:prstGeom>
            <a:solidFill>
              <a:srgbClr val="FEFEFE"/>
            </a:solidFill>
            <a:ln w="28575"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D9650EB6-5E17-13F0-FAB8-27EB98FDAF0D}"/>
                </a:ext>
              </a:extLst>
            </p:cNvPr>
            <p:cNvSpPr/>
            <p:nvPr/>
          </p:nvSpPr>
          <p:spPr>
            <a:xfrm>
              <a:off x="4817991" y="12122241"/>
              <a:ext cx="254000" cy="254000"/>
            </a:xfrm>
            <a:prstGeom prst="ellipse">
              <a:avLst/>
            </a:prstGeom>
            <a:solidFill>
              <a:srgbClr val="FEFEFE"/>
            </a:solidFill>
            <a:ln w="28575"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8515780B-48A6-A749-A954-B1F6753A58C2}"/>
                </a:ext>
              </a:extLst>
            </p:cNvPr>
            <p:cNvCxnSpPr>
              <a:cxnSpLocks/>
            </p:cNvCxnSpPr>
            <p:nvPr/>
          </p:nvCxnSpPr>
          <p:spPr>
            <a:xfrm>
              <a:off x="4944991" y="11495024"/>
              <a:ext cx="778765" cy="751840"/>
            </a:xfrm>
            <a:prstGeom prst="line">
              <a:avLst/>
            </a:prstGeom>
            <a:ln w="28575">
              <a:solidFill>
                <a:srgbClr val="7B967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D837B166-7C0A-3E39-A6AB-9A19FB3A708E}"/>
                </a:ext>
              </a:extLst>
            </p:cNvPr>
            <p:cNvSpPr/>
            <p:nvPr/>
          </p:nvSpPr>
          <p:spPr>
            <a:xfrm>
              <a:off x="4826134" y="11396831"/>
              <a:ext cx="254000" cy="254000"/>
            </a:xfrm>
            <a:prstGeom prst="ellipse">
              <a:avLst/>
            </a:prstGeom>
            <a:solidFill>
              <a:srgbClr val="FEFEFE"/>
            </a:solidFill>
            <a:ln w="28575"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8607A2A1-3B41-D97C-0A81-70CA46832C7E}"/>
                </a:ext>
              </a:extLst>
            </p:cNvPr>
            <p:cNvSpPr/>
            <p:nvPr/>
          </p:nvSpPr>
          <p:spPr>
            <a:xfrm>
              <a:off x="5596756" y="12122241"/>
              <a:ext cx="254000" cy="254000"/>
            </a:xfrm>
            <a:prstGeom prst="ellipse">
              <a:avLst/>
            </a:prstGeom>
            <a:solidFill>
              <a:srgbClr val="FEFEFE"/>
            </a:solidFill>
            <a:ln w="28575">
              <a:solidFill>
                <a:srgbClr val="7B96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EC8EC628-EA28-4C2E-F2EF-5B602464321A}"/>
              </a:ext>
            </a:extLst>
          </p:cNvPr>
          <p:cNvSpPr/>
          <p:nvPr/>
        </p:nvSpPr>
        <p:spPr>
          <a:xfrm>
            <a:off x="4960545" y="6124350"/>
            <a:ext cx="850388" cy="461665"/>
          </a:xfrm>
          <a:prstGeom prst="roundRect">
            <a:avLst>
              <a:gd name="adj" fmla="val 21008"/>
            </a:avLst>
          </a:prstGeom>
          <a:solidFill>
            <a:srgbClr val="FEFEFE"/>
          </a:solidFill>
          <a:ln w="28575">
            <a:solidFill>
              <a:srgbClr val="7A99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矩形: 圆角 283">
            <a:extLst>
              <a:ext uri="{FF2B5EF4-FFF2-40B4-BE49-F238E27FC236}">
                <a16:creationId xmlns:a16="http://schemas.microsoft.com/office/drawing/2014/main" id="{B7BF6399-8AD4-41CD-E07A-287014CCFDFD}"/>
              </a:ext>
            </a:extLst>
          </p:cNvPr>
          <p:cNvSpPr/>
          <p:nvPr/>
        </p:nvSpPr>
        <p:spPr>
          <a:xfrm>
            <a:off x="6001872" y="6110698"/>
            <a:ext cx="850388" cy="461665"/>
          </a:xfrm>
          <a:prstGeom prst="roundRect">
            <a:avLst>
              <a:gd name="adj" fmla="val 21008"/>
            </a:avLst>
          </a:prstGeom>
          <a:solidFill>
            <a:srgbClr val="FEFEFE"/>
          </a:solidFill>
          <a:ln w="28575">
            <a:solidFill>
              <a:srgbClr val="7A99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矩形: 圆角 284">
            <a:extLst>
              <a:ext uri="{FF2B5EF4-FFF2-40B4-BE49-F238E27FC236}">
                <a16:creationId xmlns:a16="http://schemas.microsoft.com/office/drawing/2014/main" id="{6980A2CE-A678-3937-2704-B08644FD5F72}"/>
              </a:ext>
            </a:extLst>
          </p:cNvPr>
          <p:cNvSpPr/>
          <p:nvPr/>
        </p:nvSpPr>
        <p:spPr>
          <a:xfrm>
            <a:off x="7069271" y="6103298"/>
            <a:ext cx="850388" cy="461665"/>
          </a:xfrm>
          <a:prstGeom prst="roundRect">
            <a:avLst>
              <a:gd name="adj" fmla="val 21008"/>
            </a:avLst>
          </a:prstGeom>
          <a:solidFill>
            <a:srgbClr val="FEFEFE"/>
          </a:solidFill>
          <a:ln w="28575">
            <a:solidFill>
              <a:srgbClr val="7A99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6" name="图片 285">
            <a:extLst>
              <a:ext uri="{FF2B5EF4-FFF2-40B4-BE49-F238E27FC236}">
                <a16:creationId xmlns:a16="http://schemas.microsoft.com/office/drawing/2014/main" id="{1F0E3570-6CC3-17DA-52F9-673AB65FDF7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24300" y="5610889"/>
            <a:ext cx="2694061" cy="484618"/>
          </a:xfrm>
          <a:prstGeom prst="rect">
            <a:avLst/>
          </a:prstGeom>
        </p:spPr>
      </p:pic>
      <p:pic>
        <p:nvPicPr>
          <p:cNvPr id="288" name="图片 287">
            <a:extLst>
              <a:ext uri="{FF2B5EF4-FFF2-40B4-BE49-F238E27FC236}">
                <a16:creationId xmlns:a16="http://schemas.microsoft.com/office/drawing/2014/main" id="{80C5F296-5509-0CF2-FE5E-BE6DC8CD00D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349" y="6071083"/>
            <a:ext cx="676657" cy="502921"/>
          </a:xfrm>
          <a:prstGeom prst="rect">
            <a:avLst/>
          </a:prstGeom>
        </p:spPr>
      </p:pic>
      <p:pic>
        <p:nvPicPr>
          <p:cNvPr id="290" name="图片 289">
            <a:extLst>
              <a:ext uri="{FF2B5EF4-FFF2-40B4-BE49-F238E27FC236}">
                <a16:creationId xmlns:a16="http://schemas.microsoft.com/office/drawing/2014/main" id="{50AD39D8-B918-295B-5897-1CEDBD55F61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97" y="6125979"/>
            <a:ext cx="717805" cy="507493"/>
          </a:xfrm>
          <a:prstGeom prst="rect">
            <a:avLst/>
          </a:prstGeom>
        </p:spPr>
      </p:pic>
      <p:pic>
        <p:nvPicPr>
          <p:cNvPr id="292" name="图片 291">
            <a:extLst>
              <a:ext uri="{FF2B5EF4-FFF2-40B4-BE49-F238E27FC236}">
                <a16:creationId xmlns:a16="http://schemas.microsoft.com/office/drawing/2014/main" id="{28E87918-8AF7-BEDA-1053-8A0DF1CB41A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308" y="6125979"/>
            <a:ext cx="649225" cy="507493"/>
          </a:xfrm>
          <a:prstGeom prst="rect">
            <a:avLst/>
          </a:prstGeom>
        </p:spPr>
      </p:pic>
      <p:grpSp>
        <p:nvGrpSpPr>
          <p:cNvPr id="304" name="组合 303">
            <a:extLst>
              <a:ext uri="{FF2B5EF4-FFF2-40B4-BE49-F238E27FC236}">
                <a16:creationId xmlns:a16="http://schemas.microsoft.com/office/drawing/2014/main" id="{1672176E-B887-A407-FBEB-6EC1C142C4FF}"/>
              </a:ext>
            </a:extLst>
          </p:cNvPr>
          <p:cNvGrpSpPr/>
          <p:nvPr/>
        </p:nvGrpSpPr>
        <p:grpSpPr>
          <a:xfrm>
            <a:off x="5766146" y="8938707"/>
            <a:ext cx="1421277" cy="257235"/>
            <a:chOff x="1991331" y="13008269"/>
            <a:chExt cx="1421277" cy="257235"/>
          </a:xfrm>
        </p:grpSpPr>
        <p:sp>
          <p:nvSpPr>
            <p:cNvPr id="295" name="矩形 294">
              <a:extLst>
                <a:ext uri="{FF2B5EF4-FFF2-40B4-BE49-F238E27FC236}">
                  <a16:creationId xmlns:a16="http://schemas.microsoft.com/office/drawing/2014/main" id="{D5D14D33-8935-7B96-96B6-58660BC4F8A3}"/>
                </a:ext>
              </a:extLst>
            </p:cNvPr>
            <p:cNvSpPr/>
            <p:nvPr/>
          </p:nvSpPr>
          <p:spPr>
            <a:xfrm>
              <a:off x="1991331" y="13008269"/>
              <a:ext cx="240964" cy="257235"/>
            </a:xfrm>
            <a:prstGeom prst="rect">
              <a:avLst/>
            </a:prstGeom>
            <a:solidFill>
              <a:srgbClr val="F6E1A0"/>
            </a:solidFill>
            <a:ln>
              <a:solidFill>
                <a:srgbClr val="C1AC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矩形 295">
              <a:extLst>
                <a:ext uri="{FF2B5EF4-FFF2-40B4-BE49-F238E27FC236}">
                  <a16:creationId xmlns:a16="http://schemas.microsoft.com/office/drawing/2014/main" id="{3197F4EB-5778-3278-6F6F-211FC860D49A}"/>
                </a:ext>
              </a:extLst>
            </p:cNvPr>
            <p:cNvSpPr/>
            <p:nvPr/>
          </p:nvSpPr>
          <p:spPr>
            <a:xfrm>
              <a:off x="2232294" y="13008269"/>
              <a:ext cx="240964" cy="257235"/>
            </a:xfrm>
            <a:prstGeom prst="rect">
              <a:avLst/>
            </a:prstGeom>
            <a:solidFill>
              <a:srgbClr val="F6E1A0"/>
            </a:solidFill>
            <a:ln>
              <a:solidFill>
                <a:srgbClr val="C1AC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矩形 296">
              <a:extLst>
                <a:ext uri="{FF2B5EF4-FFF2-40B4-BE49-F238E27FC236}">
                  <a16:creationId xmlns:a16="http://schemas.microsoft.com/office/drawing/2014/main" id="{9E31F998-BCAD-CFE3-3E81-027D57D311CD}"/>
                </a:ext>
              </a:extLst>
            </p:cNvPr>
            <p:cNvSpPr/>
            <p:nvPr/>
          </p:nvSpPr>
          <p:spPr>
            <a:xfrm>
              <a:off x="2461156" y="13008269"/>
              <a:ext cx="240964" cy="257235"/>
            </a:xfrm>
            <a:prstGeom prst="rect">
              <a:avLst/>
            </a:prstGeom>
            <a:solidFill>
              <a:srgbClr val="F6E1A0"/>
            </a:solidFill>
            <a:ln>
              <a:solidFill>
                <a:srgbClr val="C1AC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矩形 297">
              <a:extLst>
                <a:ext uri="{FF2B5EF4-FFF2-40B4-BE49-F238E27FC236}">
                  <a16:creationId xmlns:a16="http://schemas.microsoft.com/office/drawing/2014/main" id="{2A4DA3EA-B1CA-9499-7A64-B6A9AD67E6D5}"/>
                </a:ext>
              </a:extLst>
            </p:cNvPr>
            <p:cNvSpPr/>
            <p:nvPr/>
          </p:nvSpPr>
          <p:spPr>
            <a:xfrm>
              <a:off x="2702119" y="13008269"/>
              <a:ext cx="240964" cy="257235"/>
            </a:xfrm>
            <a:prstGeom prst="rect">
              <a:avLst/>
            </a:prstGeom>
            <a:solidFill>
              <a:srgbClr val="F6E1A0"/>
            </a:solidFill>
            <a:ln>
              <a:solidFill>
                <a:srgbClr val="C1AC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矩形 298">
              <a:extLst>
                <a:ext uri="{FF2B5EF4-FFF2-40B4-BE49-F238E27FC236}">
                  <a16:creationId xmlns:a16="http://schemas.microsoft.com/office/drawing/2014/main" id="{5A0F2E03-CC7B-6605-B6B5-26812E909348}"/>
                </a:ext>
              </a:extLst>
            </p:cNvPr>
            <p:cNvSpPr/>
            <p:nvPr/>
          </p:nvSpPr>
          <p:spPr>
            <a:xfrm>
              <a:off x="2930681" y="13008269"/>
              <a:ext cx="240964" cy="257235"/>
            </a:xfrm>
            <a:prstGeom prst="rect">
              <a:avLst/>
            </a:prstGeom>
            <a:solidFill>
              <a:srgbClr val="F6E1A0"/>
            </a:solidFill>
            <a:ln>
              <a:solidFill>
                <a:srgbClr val="C1AC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矩形 299">
              <a:extLst>
                <a:ext uri="{FF2B5EF4-FFF2-40B4-BE49-F238E27FC236}">
                  <a16:creationId xmlns:a16="http://schemas.microsoft.com/office/drawing/2014/main" id="{7D72C9A0-7BED-315C-98C4-816578477784}"/>
                </a:ext>
              </a:extLst>
            </p:cNvPr>
            <p:cNvSpPr/>
            <p:nvPr/>
          </p:nvSpPr>
          <p:spPr>
            <a:xfrm>
              <a:off x="3171644" y="13008269"/>
              <a:ext cx="240964" cy="257235"/>
            </a:xfrm>
            <a:prstGeom prst="rect">
              <a:avLst/>
            </a:prstGeom>
            <a:solidFill>
              <a:srgbClr val="F6E1A0"/>
            </a:solidFill>
            <a:ln>
              <a:solidFill>
                <a:srgbClr val="C1AC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6" name="文本框 305">
            <a:extLst>
              <a:ext uri="{FF2B5EF4-FFF2-40B4-BE49-F238E27FC236}">
                <a16:creationId xmlns:a16="http://schemas.microsoft.com/office/drawing/2014/main" id="{C4354408-7DEB-647E-900A-7BA68ABB4F94}"/>
              </a:ext>
            </a:extLst>
          </p:cNvPr>
          <p:cNvSpPr txBox="1"/>
          <p:nvPr/>
        </p:nvSpPr>
        <p:spPr>
          <a:xfrm>
            <a:off x="5766886" y="9268962"/>
            <a:ext cx="1272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融合</a:t>
            </a:r>
            <a:r>
              <a:rPr lang="en-US" altLang="zh-CN" sz="1400" b="1" dirty="0">
                <a:latin typeface="+mn-ea"/>
              </a:rPr>
              <a:t>POI</a:t>
            </a:r>
            <a:r>
              <a:rPr lang="zh-CN" altLang="en-US" sz="1400" b="1" dirty="0">
                <a:latin typeface="+mn-ea"/>
              </a:rPr>
              <a:t>表示</a:t>
            </a:r>
          </a:p>
        </p:txBody>
      </p:sp>
      <p:pic>
        <p:nvPicPr>
          <p:cNvPr id="308" name="图片 307">
            <a:extLst>
              <a:ext uri="{FF2B5EF4-FFF2-40B4-BE49-F238E27FC236}">
                <a16:creationId xmlns:a16="http://schemas.microsoft.com/office/drawing/2014/main" id="{CCBFC486-9FF9-ED59-B375-84FE0765CBB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437" y="9214813"/>
            <a:ext cx="401662" cy="464887"/>
          </a:xfrm>
          <a:prstGeom prst="rect">
            <a:avLst/>
          </a:prstGeom>
        </p:spPr>
      </p:pic>
      <p:sp>
        <p:nvSpPr>
          <p:cNvPr id="309" name="矩形: 圆角 308">
            <a:extLst>
              <a:ext uri="{FF2B5EF4-FFF2-40B4-BE49-F238E27FC236}">
                <a16:creationId xmlns:a16="http://schemas.microsoft.com/office/drawing/2014/main" id="{574417BE-DDC8-486F-FE36-6ED04E75D8FC}"/>
              </a:ext>
            </a:extLst>
          </p:cNvPr>
          <p:cNvSpPr/>
          <p:nvPr/>
        </p:nvSpPr>
        <p:spPr>
          <a:xfrm>
            <a:off x="5027661" y="9654975"/>
            <a:ext cx="3034375" cy="515186"/>
          </a:xfrm>
          <a:prstGeom prst="roundRect">
            <a:avLst>
              <a:gd name="adj" fmla="val 25590"/>
            </a:avLst>
          </a:prstGeom>
          <a:solidFill>
            <a:srgbClr val="FEFEFE"/>
          </a:solidFill>
          <a:ln w="28575">
            <a:solidFill>
              <a:srgbClr val="7A99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0" name="图片 309">
            <a:extLst>
              <a:ext uri="{FF2B5EF4-FFF2-40B4-BE49-F238E27FC236}">
                <a16:creationId xmlns:a16="http://schemas.microsoft.com/office/drawing/2014/main" id="{2702B82A-9B88-E05E-F49C-FCDC0010F6F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075164" y="9682066"/>
            <a:ext cx="2865518" cy="369333"/>
          </a:xfrm>
          <a:prstGeom prst="rect">
            <a:avLst/>
          </a:prstGeom>
        </p:spPr>
      </p:pic>
      <p:sp>
        <p:nvSpPr>
          <p:cNvPr id="311" name="矩形: 圆角 310">
            <a:extLst>
              <a:ext uri="{FF2B5EF4-FFF2-40B4-BE49-F238E27FC236}">
                <a16:creationId xmlns:a16="http://schemas.microsoft.com/office/drawing/2014/main" id="{3229CE0E-59B7-B3C8-F775-93D2C56C0CCB}"/>
              </a:ext>
            </a:extLst>
          </p:cNvPr>
          <p:cNvSpPr/>
          <p:nvPr/>
        </p:nvSpPr>
        <p:spPr>
          <a:xfrm>
            <a:off x="8331244" y="2599725"/>
            <a:ext cx="4584656" cy="7925423"/>
          </a:xfrm>
          <a:prstGeom prst="roundRect">
            <a:avLst>
              <a:gd name="adj" fmla="val 285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9441BB6E-95E3-9572-9190-54E696EFD619}"/>
              </a:ext>
            </a:extLst>
          </p:cNvPr>
          <p:cNvSpPr txBox="1"/>
          <p:nvPr/>
        </p:nvSpPr>
        <p:spPr>
          <a:xfrm>
            <a:off x="8799675" y="2716670"/>
            <a:ext cx="4007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EB632F"/>
                </a:solidFill>
                <a:latin typeface="+mn-ea"/>
              </a:rPr>
              <a:t>代价感知的自适应级联多索引检索</a:t>
            </a:r>
          </a:p>
        </p:txBody>
      </p:sp>
      <p:pic>
        <p:nvPicPr>
          <p:cNvPr id="313" name="图片 312">
            <a:extLst>
              <a:ext uri="{FF2B5EF4-FFF2-40B4-BE49-F238E27FC236}">
                <a16:creationId xmlns:a16="http://schemas.microsoft.com/office/drawing/2014/main" id="{F5DF6F9A-08E2-44E7-F3BB-23B5CEF30FF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87126" y="2730610"/>
            <a:ext cx="487563" cy="374505"/>
          </a:xfrm>
          <a:prstGeom prst="rect">
            <a:avLst/>
          </a:prstGeom>
        </p:spPr>
      </p:pic>
      <p:sp>
        <p:nvSpPr>
          <p:cNvPr id="314" name="矩形: 圆角 313">
            <a:extLst>
              <a:ext uri="{FF2B5EF4-FFF2-40B4-BE49-F238E27FC236}">
                <a16:creationId xmlns:a16="http://schemas.microsoft.com/office/drawing/2014/main" id="{F692D0D3-7FF9-C8E5-3AE1-2E5DA758CA5D}"/>
              </a:ext>
            </a:extLst>
          </p:cNvPr>
          <p:cNvSpPr/>
          <p:nvPr/>
        </p:nvSpPr>
        <p:spPr>
          <a:xfrm>
            <a:off x="8466918" y="3183155"/>
            <a:ext cx="4224954" cy="1004164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842D344E-22DE-3833-6D03-9782209995ED}"/>
              </a:ext>
            </a:extLst>
          </p:cNvPr>
          <p:cNvSpPr txBox="1"/>
          <p:nvPr/>
        </p:nvSpPr>
        <p:spPr>
          <a:xfrm>
            <a:off x="9293874" y="3148036"/>
            <a:ext cx="2297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EB632F"/>
                </a:solidFill>
                <a:latin typeface="+mn-ea"/>
              </a:rPr>
              <a:t>Stage1 </a:t>
            </a:r>
            <a:r>
              <a:rPr lang="zh-CN" altLang="en-US" sz="1600" b="1" dirty="0">
                <a:solidFill>
                  <a:srgbClr val="EB632F"/>
                </a:solidFill>
                <a:latin typeface="+mn-ea"/>
              </a:rPr>
              <a:t>低代价多源召回</a:t>
            </a:r>
          </a:p>
        </p:txBody>
      </p:sp>
      <p:sp>
        <p:nvSpPr>
          <p:cNvPr id="324" name="矩形: 圆角 323">
            <a:extLst>
              <a:ext uri="{FF2B5EF4-FFF2-40B4-BE49-F238E27FC236}">
                <a16:creationId xmlns:a16="http://schemas.microsoft.com/office/drawing/2014/main" id="{01A798CE-A253-7825-7C03-7FEF71AB1484}"/>
              </a:ext>
            </a:extLst>
          </p:cNvPr>
          <p:cNvSpPr/>
          <p:nvPr/>
        </p:nvSpPr>
        <p:spPr>
          <a:xfrm>
            <a:off x="8563229" y="3470917"/>
            <a:ext cx="588459" cy="546422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矩形: 圆角 324">
            <a:extLst>
              <a:ext uri="{FF2B5EF4-FFF2-40B4-BE49-F238E27FC236}">
                <a16:creationId xmlns:a16="http://schemas.microsoft.com/office/drawing/2014/main" id="{5FBE7032-D126-E215-D073-8C14CFAB670D}"/>
              </a:ext>
            </a:extLst>
          </p:cNvPr>
          <p:cNvSpPr/>
          <p:nvPr/>
        </p:nvSpPr>
        <p:spPr>
          <a:xfrm>
            <a:off x="9196935" y="3470917"/>
            <a:ext cx="588459" cy="546422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矩形: 圆角 325">
            <a:extLst>
              <a:ext uri="{FF2B5EF4-FFF2-40B4-BE49-F238E27FC236}">
                <a16:creationId xmlns:a16="http://schemas.microsoft.com/office/drawing/2014/main" id="{82C909A2-75A1-54D3-A14B-3158A77FCACF}"/>
              </a:ext>
            </a:extLst>
          </p:cNvPr>
          <p:cNvSpPr/>
          <p:nvPr/>
        </p:nvSpPr>
        <p:spPr>
          <a:xfrm>
            <a:off x="9829918" y="3472585"/>
            <a:ext cx="588459" cy="546422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矩形: 圆角 326">
            <a:extLst>
              <a:ext uri="{FF2B5EF4-FFF2-40B4-BE49-F238E27FC236}">
                <a16:creationId xmlns:a16="http://schemas.microsoft.com/office/drawing/2014/main" id="{FACC52D5-D961-EB55-637A-39CBA96EB9EC}"/>
              </a:ext>
            </a:extLst>
          </p:cNvPr>
          <p:cNvSpPr/>
          <p:nvPr/>
        </p:nvSpPr>
        <p:spPr>
          <a:xfrm>
            <a:off x="10459127" y="3472585"/>
            <a:ext cx="588459" cy="546422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矩形: 圆角 327">
            <a:extLst>
              <a:ext uri="{FF2B5EF4-FFF2-40B4-BE49-F238E27FC236}">
                <a16:creationId xmlns:a16="http://schemas.microsoft.com/office/drawing/2014/main" id="{3E00C944-A805-5FED-3B3A-358305EBC9E6}"/>
              </a:ext>
            </a:extLst>
          </p:cNvPr>
          <p:cNvSpPr/>
          <p:nvPr/>
        </p:nvSpPr>
        <p:spPr>
          <a:xfrm>
            <a:off x="11111121" y="3481713"/>
            <a:ext cx="588459" cy="546422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41559914-AE99-DFCD-AACA-40A4D36E1196}"/>
              </a:ext>
            </a:extLst>
          </p:cNvPr>
          <p:cNvSpPr/>
          <p:nvPr/>
        </p:nvSpPr>
        <p:spPr>
          <a:xfrm>
            <a:off x="11752207" y="3483383"/>
            <a:ext cx="588459" cy="546422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文本框 329">
            <a:extLst>
              <a:ext uri="{FF2B5EF4-FFF2-40B4-BE49-F238E27FC236}">
                <a16:creationId xmlns:a16="http://schemas.microsoft.com/office/drawing/2014/main" id="{5D972A03-62FA-D21F-DCC4-5C4D6BEF2E68}"/>
              </a:ext>
            </a:extLst>
          </p:cNvPr>
          <p:cNvSpPr txBox="1"/>
          <p:nvPr/>
        </p:nvSpPr>
        <p:spPr>
          <a:xfrm>
            <a:off x="12316676" y="3587317"/>
            <a:ext cx="347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…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315" name="图片 314">
            <a:extLst>
              <a:ext uri="{FF2B5EF4-FFF2-40B4-BE49-F238E27FC236}">
                <a16:creationId xmlns:a16="http://schemas.microsoft.com/office/drawing/2014/main" id="{2A57BF3A-3C1C-EFCD-9A3D-40F30788D7F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91087" y="3499606"/>
            <a:ext cx="325731" cy="327436"/>
          </a:xfrm>
          <a:prstGeom prst="rect">
            <a:avLst/>
          </a:prstGeom>
        </p:spPr>
      </p:pic>
      <p:pic>
        <p:nvPicPr>
          <p:cNvPr id="316" name="图片 315">
            <a:extLst>
              <a:ext uri="{FF2B5EF4-FFF2-40B4-BE49-F238E27FC236}">
                <a16:creationId xmlns:a16="http://schemas.microsoft.com/office/drawing/2014/main" id="{77743DF6-50BF-3D16-0C0E-E0A4242861C9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314469" y="3499606"/>
            <a:ext cx="366447" cy="327436"/>
          </a:xfrm>
          <a:prstGeom prst="rect">
            <a:avLst/>
          </a:prstGeom>
        </p:spPr>
      </p:pic>
      <p:pic>
        <p:nvPicPr>
          <p:cNvPr id="318" name="图片 317">
            <a:extLst>
              <a:ext uri="{FF2B5EF4-FFF2-40B4-BE49-F238E27FC236}">
                <a16:creationId xmlns:a16="http://schemas.microsoft.com/office/drawing/2014/main" id="{ABBB323D-E392-41B5-AF25-CFFB1CF2E8A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970845" y="3508097"/>
            <a:ext cx="325731" cy="339343"/>
          </a:xfrm>
          <a:prstGeom prst="rect">
            <a:avLst/>
          </a:prstGeom>
        </p:spPr>
      </p:pic>
      <p:pic>
        <p:nvPicPr>
          <p:cNvPr id="319" name="图片 318">
            <a:extLst>
              <a:ext uri="{FF2B5EF4-FFF2-40B4-BE49-F238E27FC236}">
                <a16:creationId xmlns:a16="http://schemas.microsoft.com/office/drawing/2014/main" id="{72A29473-EF73-031C-5162-4E2A759D07B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593020" y="3520004"/>
            <a:ext cx="325731" cy="315530"/>
          </a:xfrm>
          <a:prstGeom prst="rect">
            <a:avLst/>
          </a:prstGeom>
        </p:spPr>
      </p:pic>
      <p:pic>
        <p:nvPicPr>
          <p:cNvPr id="320" name="图片 319">
            <a:extLst>
              <a:ext uri="{FF2B5EF4-FFF2-40B4-BE49-F238E27FC236}">
                <a16:creationId xmlns:a16="http://schemas.microsoft.com/office/drawing/2014/main" id="{AAB2F2A0-2FDC-3F3A-4B5A-3C00F014ACC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218313" y="3499826"/>
            <a:ext cx="351517" cy="372523"/>
          </a:xfrm>
          <a:prstGeom prst="rect">
            <a:avLst/>
          </a:prstGeom>
        </p:spPr>
      </p:pic>
      <p:pic>
        <p:nvPicPr>
          <p:cNvPr id="321" name="图片 320">
            <a:extLst>
              <a:ext uri="{FF2B5EF4-FFF2-40B4-BE49-F238E27FC236}">
                <a16:creationId xmlns:a16="http://schemas.microsoft.com/office/drawing/2014/main" id="{76F658E3-594A-F38B-9704-8D566B269CC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878573" y="3537112"/>
            <a:ext cx="344619" cy="302910"/>
          </a:xfrm>
          <a:prstGeom prst="rect">
            <a:avLst/>
          </a:prstGeom>
        </p:spPr>
      </p:pic>
      <p:sp>
        <p:nvSpPr>
          <p:cNvPr id="322" name="文本框 321">
            <a:extLst>
              <a:ext uri="{FF2B5EF4-FFF2-40B4-BE49-F238E27FC236}">
                <a16:creationId xmlns:a16="http://schemas.microsoft.com/office/drawing/2014/main" id="{752FBF75-51BA-2DCC-CB84-4A65F275E677}"/>
              </a:ext>
            </a:extLst>
          </p:cNvPr>
          <p:cNvSpPr txBox="1"/>
          <p:nvPr/>
        </p:nvSpPr>
        <p:spPr>
          <a:xfrm>
            <a:off x="8532060" y="3772154"/>
            <a:ext cx="679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历史</a:t>
            </a:r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E8215FEB-288A-47AA-A9E3-DFA96C0EEC90}"/>
              </a:ext>
            </a:extLst>
          </p:cNvPr>
          <p:cNvSpPr txBox="1"/>
          <p:nvPr/>
        </p:nvSpPr>
        <p:spPr>
          <a:xfrm>
            <a:off x="9162506" y="3777078"/>
            <a:ext cx="679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转移</a:t>
            </a:r>
          </a:p>
        </p:txBody>
      </p:sp>
      <p:sp>
        <p:nvSpPr>
          <p:cNvPr id="332" name="文本框 331">
            <a:extLst>
              <a:ext uri="{FF2B5EF4-FFF2-40B4-BE49-F238E27FC236}">
                <a16:creationId xmlns:a16="http://schemas.microsoft.com/office/drawing/2014/main" id="{FD8FFDA5-12B0-B25B-6441-9739284B67E1}"/>
              </a:ext>
            </a:extLst>
          </p:cNvPr>
          <p:cNvSpPr txBox="1"/>
          <p:nvPr/>
        </p:nvSpPr>
        <p:spPr>
          <a:xfrm>
            <a:off x="9760700" y="3787876"/>
            <a:ext cx="679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用户</a:t>
            </a:r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5823CE7F-AC33-F568-19FF-40E10F55F45F}"/>
              </a:ext>
            </a:extLst>
          </p:cNvPr>
          <p:cNvSpPr txBox="1"/>
          <p:nvPr/>
        </p:nvSpPr>
        <p:spPr>
          <a:xfrm>
            <a:off x="10426844" y="3777078"/>
            <a:ext cx="679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时间</a:t>
            </a:r>
          </a:p>
        </p:txBody>
      </p:sp>
      <p:sp>
        <p:nvSpPr>
          <p:cNvPr id="334" name="文本框 333">
            <a:extLst>
              <a:ext uri="{FF2B5EF4-FFF2-40B4-BE49-F238E27FC236}">
                <a16:creationId xmlns:a16="http://schemas.microsoft.com/office/drawing/2014/main" id="{8F421E57-F3E4-0C08-F82F-365361CE509C}"/>
              </a:ext>
            </a:extLst>
          </p:cNvPr>
          <p:cNvSpPr txBox="1"/>
          <p:nvPr/>
        </p:nvSpPr>
        <p:spPr>
          <a:xfrm>
            <a:off x="11050019" y="3770406"/>
            <a:ext cx="679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类别</a:t>
            </a:r>
          </a:p>
        </p:txBody>
      </p:sp>
      <p:sp>
        <p:nvSpPr>
          <p:cNvPr id="335" name="文本框 334">
            <a:extLst>
              <a:ext uri="{FF2B5EF4-FFF2-40B4-BE49-F238E27FC236}">
                <a16:creationId xmlns:a16="http://schemas.microsoft.com/office/drawing/2014/main" id="{86808551-9A76-63F7-3531-DBFB97126EAE}"/>
              </a:ext>
            </a:extLst>
          </p:cNvPr>
          <p:cNvSpPr txBox="1"/>
          <p:nvPr/>
        </p:nvSpPr>
        <p:spPr>
          <a:xfrm>
            <a:off x="11718856" y="3787876"/>
            <a:ext cx="679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流行度</a:t>
            </a:r>
          </a:p>
        </p:txBody>
      </p: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F1900DC9-004D-1149-593D-B28ECAAAEE8C}"/>
              </a:ext>
            </a:extLst>
          </p:cNvPr>
          <p:cNvSpPr/>
          <p:nvPr/>
        </p:nvSpPr>
        <p:spPr>
          <a:xfrm>
            <a:off x="8493636" y="4534474"/>
            <a:ext cx="4198236" cy="335563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E7CBAE57-72DF-F9BD-1043-891FDA2FFCBD}"/>
              </a:ext>
            </a:extLst>
          </p:cNvPr>
          <p:cNvSpPr txBox="1"/>
          <p:nvPr/>
        </p:nvSpPr>
        <p:spPr>
          <a:xfrm>
            <a:off x="8684075" y="4577799"/>
            <a:ext cx="3680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候选合并        去重        来源标记        分数融合</a:t>
            </a:r>
          </a:p>
        </p:txBody>
      </p:sp>
      <p:cxnSp>
        <p:nvCxnSpPr>
          <p:cNvPr id="338" name="直接箭头连接符 337">
            <a:extLst>
              <a:ext uri="{FF2B5EF4-FFF2-40B4-BE49-F238E27FC236}">
                <a16:creationId xmlns:a16="http://schemas.microsoft.com/office/drawing/2014/main" id="{63691DA8-9002-E166-C1A9-98090E5C0A8A}"/>
              </a:ext>
            </a:extLst>
          </p:cNvPr>
          <p:cNvCxnSpPr>
            <a:cxnSpLocks/>
          </p:cNvCxnSpPr>
          <p:nvPr/>
        </p:nvCxnSpPr>
        <p:spPr>
          <a:xfrm>
            <a:off x="9599782" y="4723458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箭头连接符 340">
            <a:extLst>
              <a:ext uri="{FF2B5EF4-FFF2-40B4-BE49-F238E27FC236}">
                <a16:creationId xmlns:a16="http://schemas.microsoft.com/office/drawing/2014/main" id="{64D2B73B-53A3-29BE-5222-A797E20E3780}"/>
              </a:ext>
            </a:extLst>
          </p:cNvPr>
          <p:cNvCxnSpPr>
            <a:cxnSpLocks/>
          </p:cNvCxnSpPr>
          <p:nvPr/>
        </p:nvCxnSpPr>
        <p:spPr>
          <a:xfrm>
            <a:off x="10254606" y="4723458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箭头连接符 341">
            <a:extLst>
              <a:ext uri="{FF2B5EF4-FFF2-40B4-BE49-F238E27FC236}">
                <a16:creationId xmlns:a16="http://schemas.microsoft.com/office/drawing/2014/main" id="{E815870E-713E-0443-CFD0-84FBBC67E567}"/>
              </a:ext>
            </a:extLst>
          </p:cNvPr>
          <p:cNvCxnSpPr>
            <a:cxnSpLocks/>
          </p:cNvCxnSpPr>
          <p:nvPr/>
        </p:nvCxnSpPr>
        <p:spPr>
          <a:xfrm>
            <a:off x="11199486" y="4723458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矩形: 圆角 342">
            <a:extLst>
              <a:ext uri="{FF2B5EF4-FFF2-40B4-BE49-F238E27FC236}">
                <a16:creationId xmlns:a16="http://schemas.microsoft.com/office/drawing/2014/main" id="{1312A274-96F3-8D81-91C8-C0872F84ADFD}"/>
              </a:ext>
            </a:extLst>
          </p:cNvPr>
          <p:cNvSpPr/>
          <p:nvPr/>
        </p:nvSpPr>
        <p:spPr>
          <a:xfrm>
            <a:off x="8493636" y="4956160"/>
            <a:ext cx="4210428" cy="1107034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7596B399-7D75-F70D-20AA-EE8BC858FAE1}"/>
              </a:ext>
            </a:extLst>
          </p:cNvPr>
          <p:cNvSpPr txBox="1"/>
          <p:nvPr/>
        </p:nvSpPr>
        <p:spPr>
          <a:xfrm>
            <a:off x="9928002" y="5034419"/>
            <a:ext cx="1034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初始候选集</a:t>
            </a:r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0A378E6E-28EE-C269-C042-F039CA0A465C}"/>
              </a:ext>
            </a:extLst>
          </p:cNvPr>
          <p:cNvSpPr txBox="1"/>
          <p:nvPr/>
        </p:nvSpPr>
        <p:spPr>
          <a:xfrm>
            <a:off x="8932030" y="5368364"/>
            <a:ext cx="1034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候选数量</a:t>
            </a:r>
          </a:p>
        </p:txBody>
      </p:sp>
      <p:sp>
        <p:nvSpPr>
          <p:cNvPr id="346" name="文本框 345">
            <a:extLst>
              <a:ext uri="{FF2B5EF4-FFF2-40B4-BE49-F238E27FC236}">
                <a16:creationId xmlns:a16="http://schemas.microsoft.com/office/drawing/2014/main" id="{D1B3A5CC-E1E1-17C7-E933-DD3FC324BC19}"/>
              </a:ext>
            </a:extLst>
          </p:cNvPr>
          <p:cNvSpPr txBox="1"/>
          <p:nvPr/>
        </p:nvSpPr>
        <p:spPr>
          <a:xfrm>
            <a:off x="10803470" y="5395808"/>
            <a:ext cx="1034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分数熵</a:t>
            </a:r>
          </a:p>
        </p:txBody>
      </p:sp>
      <p:sp>
        <p:nvSpPr>
          <p:cNvPr id="347" name="椭圆 346">
            <a:extLst>
              <a:ext uri="{FF2B5EF4-FFF2-40B4-BE49-F238E27FC236}">
                <a16:creationId xmlns:a16="http://schemas.microsoft.com/office/drawing/2014/main" id="{8BE633EF-74C4-30F5-00E2-CBA590CC39CF}"/>
              </a:ext>
            </a:extLst>
          </p:cNvPr>
          <p:cNvSpPr/>
          <p:nvPr/>
        </p:nvSpPr>
        <p:spPr>
          <a:xfrm>
            <a:off x="9600377" y="5807657"/>
            <a:ext cx="155621" cy="155621"/>
          </a:xfrm>
          <a:prstGeom prst="ellipse">
            <a:avLst/>
          </a:prstGeom>
          <a:solidFill>
            <a:srgbClr val="FEFEFE"/>
          </a:solidFill>
          <a:ln w="28575">
            <a:solidFill>
              <a:srgbClr val="EF9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椭圆 347">
            <a:extLst>
              <a:ext uri="{FF2B5EF4-FFF2-40B4-BE49-F238E27FC236}">
                <a16:creationId xmlns:a16="http://schemas.microsoft.com/office/drawing/2014/main" id="{A7A62C05-C3ED-1977-6CE4-37BAEB937B4F}"/>
              </a:ext>
            </a:extLst>
          </p:cNvPr>
          <p:cNvSpPr/>
          <p:nvPr/>
        </p:nvSpPr>
        <p:spPr>
          <a:xfrm>
            <a:off x="10045385" y="5794877"/>
            <a:ext cx="155621" cy="155621"/>
          </a:xfrm>
          <a:prstGeom prst="ellipse">
            <a:avLst/>
          </a:prstGeom>
          <a:solidFill>
            <a:srgbClr val="FEFEFE"/>
          </a:solidFill>
          <a:ln w="28575">
            <a:solidFill>
              <a:srgbClr val="EF9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9" name="椭圆 348">
            <a:extLst>
              <a:ext uri="{FF2B5EF4-FFF2-40B4-BE49-F238E27FC236}">
                <a16:creationId xmlns:a16="http://schemas.microsoft.com/office/drawing/2014/main" id="{D9FD56BD-03E8-EB44-010E-B47BF64181B8}"/>
              </a:ext>
            </a:extLst>
          </p:cNvPr>
          <p:cNvSpPr/>
          <p:nvPr/>
        </p:nvSpPr>
        <p:spPr>
          <a:xfrm>
            <a:off x="10495623" y="5794877"/>
            <a:ext cx="155621" cy="155621"/>
          </a:xfrm>
          <a:prstGeom prst="ellipse">
            <a:avLst/>
          </a:prstGeom>
          <a:solidFill>
            <a:srgbClr val="FEFEFE"/>
          </a:solidFill>
          <a:ln w="28575">
            <a:solidFill>
              <a:srgbClr val="EF9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1F06C0FF-B5FD-F9FD-93ED-8A49F18E86C7}"/>
              </a:ext>
            </a:extLst>
          </p:cNvPr>
          <p:cNvSpPr txBox="1"/>
          <p:nvPr/>
        </p:nvSpPr>
        <p:spPr>
          <a:xfrm>
            <a:off x="10774087" y="5687328"/>
            <a:ext cx="356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351" name="椭圆 350">
            <a:extLst>
              <a:ext uri="{FF2B5EF4-FFF2-40B4-BE49-F238E27FC236}">
                <a16:creationId xmlns:a16="http://schemas.microsoft.com/office/drawing/2014/main" id="{CF170E7B-C4B8-C2DE-1E03-2E98377976EF}"/>
              </a:ext>
            </a:extLst>
          </p:cNvPr>
          <p:cNvSpPr/>
          <p:nvPr/>
        </p:nvSpPr>
        <p:spPr>
          <a:xfrm>
            <a:off x="11206929" y="5794877"/>
            <a:ext cx="155621" cy="155621"/>
          </a:xfrm>
          <a:prstGeom prst="ellipse">
            <a:avLst/>
          </a:prstGeom>
          <a:solidFill>
            <a:srgbClr val="FEFEFE"/>
          </a:solidFill>
          <a:ln w="28575">
            <a:solidFill>
              <a:srgbClr val="EF9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53" name="图片 352">
            <a:extLst>
              <a:ext uri="{FF2B5EF4-FFF2-40B4-BE49-F238E27FC236}">
                <a16:creationId xmlns:a16="http://schemas.microsoft.com/office/drawing/2014/main" id="{9A4AFD87-E914-D416-FDCC-E3A438A7752C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682" y="5001153"/>
            <a:ext cx="332909" cy="335205"/>
          </a:xfrm>
          <a:prstGeom prst="rect">
            <a:avLst/>
          </a:prstGeom>
        </p:spPr>
      </p:pic>
      <p:pic>
        <p:nvPicPr>
          <p:cNvPr id="355" name="图片 354">
            <a:extLst>
              <a:ext uri="{FF2B5EF4-FFF2-40B4-BE49-F238E27FC236}">
                <a16:creationId xmlns:a16="http://schemas.microsoft.com/office/drawing/2014/main" id="{80A1458F-882A-206B-6A78-CD7D21E71F8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448" y="5305225"/>
            <a:ext cx="337534" cy="367761"/>
          </a:xfrm>
          <a:prstGeom prst="rect">
            <a:avLst/>
          </a:prstGeom>
        </p:spPr>
      </p:pic>
      <p:pic>
        <p:nvPicPr>
          <p:cNvPr id="357" name="图片 356">
            <a:extLst>
              <a:ext uri="{FF2B5EF4-FFF2-40B4-BE49-F238E27FC236}">
                <a16:creationId xmlns:a16="http://schemas.microsoft.com/office/drawing/2014/main" id="{FFD3A7CD-ADEF-AD2F-78D6-FD3AF8E9962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7947" y="5381243"/>
            <a:ext cx="330276" cy="323626"/>
          </a:xfrm>
          <a:prstGeom prst="rect">
            <a:avLst/>
          </a:prstGeom>
        </p:spPr>
      </p:pic>
      <p:sp>
        <p:nvSpPr>
          <p:cNvPr id="358" name="矩形: 圆角 357">
            <a:extLst>
              <a:ext uri="{FF2B5EF4-FFF2-40B4-BE49-F238E27FC236}">
                <a16:creationId xmlns:a16="http://schemas.microsoft.com/office/drawing/2014/main" id="{6A107ACA-F540-7C8A-8A11-49A15D1B215C}"/>
              </a:ext>
            </a:extLst>
          </p:cNvPr>
          <p:cNvSpPr/>
          <p:nvPr/>
        </p:nvSpPr>
        <p:spPr>
          <a:xfrm>
            <a:off x="8493636" y="6168831"/>
            <a:ext cx="4228716" cy="521780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9091FC80-8FBD-2B70-217D-528867937F3F}"/>
              </a:ext>
            </a:extLst>
          </p:cNvPr>
          <p:cNvSpPr txBox="1"/>
          <p:nvPr/>
        </p:nvSpPr>
        <p:spPr>
          <a:xfrm>
            <a:off x="8581442" y="6285876"/>
            <a:ext cx="3680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规则式级联决策（数量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熵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数量</a:t>
            </a:r>
            <a:r>
              <a:rPr lang="en-US" altLang="zh-CN" sz="1200" b="1" dirty="0">
                <a:latin typeface="+mn-ea"/>
              </a:rPr>
              <a:t>+</a:t>
            </a:r>
            <a:r>
              <a:rPr lang="zh-CN" altLang="en-US" sz="1200" b="1" dirty="0">
                <a:latin typeface="+mn-ea"/>
              </a:rPr>
              <a:t>熵）</a:t>
            </a:r>
          </a:p>
        </p:txBody>
      </p:sp>
      <p:sp>
        <p:nvSpPr>
          <p:cNvPr id="362" name="矩形: 圆角 361">
            <a:extLst>
              <a:ext uri="{FF2B5EF4-FFF2-40B4-BE49-F238E27FC236}">
                <a16:creationId xmlns:a16="http://schemas.microsoft.com/office/drawing/2014/main" id="{B9BE6FB3-58F1-9778-FC48-D97DB20F3A27}"/>
              </a:ext>
            </a:extLst>
          </p:cNvPr>
          <p:cNvSpPr/>
          <p:nvPr/>
        </p:nvSpPr>
        <p:spPr>
          <a:xfrm>
            <a:off x="9242581" y="7931441"/>
            <a:ext cx="3405493" cy="1290710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3" name="矩形: 圆角 362">
            <a:extLst>
              <a:ext uri="{FF2B5EF4-FFF2-40B4-BE49-F238E27FC236}">
                <a16:creationId xmlns:a16="http://schemas.microsoft.com/office/drawing/2014/main" id="{F7A534BD-F506-D127-E633-90B7707DCC69}"/>
              </a:ext>
            </a:extLst>
          </p:cNvPr>
          <p:cNvSpPr/>
          <p:nvPr/>
        </p:nvSpPr>
        <p:spPr>
          <a:xfrm>
            <a:off x="8493636" y="9680448"/>
            <a:ext cx="4133575" cy="692912"/>
          </a:xfrm>
          <a:prstGeom prst="roundRect">
            <a:avLst>
              <a:gd name="adj" fmla="val 3109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56BA4AAC-D304-9E39-173B-F1BA19E2D389}"/>
              </a:ext>
            </a:extLst>
          </p:cNvPr>
          <p:cNvSpPr txBox="1"/>
          <p:nvPr/>
        </p:nvSpPr>
        <p:spPr>
          <a:xfrm>
            <a:off x="10055475" y="7887903"/>
            <a:ext cx="2092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EB632F"/>
                </a:solidFill>
                <a:latin typeface="+mn-ea"/>
              </a:rPr>
              <a:t>Stage2 </a:t>
            </a:r>
            <a:r>
              <a:rPr lang="zh-CN" altLang="en-US" sz="1600" b="1" dirty="0">
                <a:solidFill>
                  <a:srgbClr val="EB632F"/>
                </a:solidFill>
                <a:latin typeface="+mn-ea"/>
              </a:rPr>
              <a:t>高代价深召回</a:t>
            </a:r>
          </a:p>
        </p:txBody>
      </p:sp>
      <p:sp>
        <p:nvSpPr>
          <p:cNvPr id="365" name="矩形: 圆角 364">
            <a:extLst>
              <a:ext uri="{FF2B5EF4-FFF2-40B4-BE49-F238E27FC236}">
                <a16:creationId xmlns:a16="http://schemas.microsoft.com/office/drawing/2014/main" id="{10DA7E10-6367-E843-801E-2B021D38C4E1}"/>
              </a:ext>
            </a:extLst>
          </p:cNvPr>
          <p:cNvSpPr/>
          <p:nvPr/>
        </p:nvSpPr>
        <p:spPr>
          <a:xfrm>
            <a:off x="9384807" y="8226457"/>
            <a:ext cx="814180" cy="510349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6" name="矩形: 圆角 365">
            <a:extLst>
              <a:ext uri="{FF2B5EF4-FFF2-40B4-BE49-F238E27FC236}">
                <a16:creationId xmlns:a16="http://schemas.microsoft.com/office/drawing/2014/main" id="{B826A014-6A0C-372C-84E4-83E6147923FF}"/>
              </a:ext>
            </a:extLst>
          </p:cNvPr>
          <p:cNvSpPr/>
          <p:nvPr/>
        </p:nvSpPr>
        <p:spPr>
          <a:xfrm>
            <a:off x="10396743" y="8226457"/>
            <a:ext cx="814180" cy="510349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7" name="矩形: 圆角 366">
            <a:extLst>
              <a:ext uri="{FF2B5EF4-FFF2-40B4-BE49-F238E27FC236}">
                <a16:creationId xmlns:a16="http://schemas.microsoft.com/office/drawing/2014/main" id="{CFA43EC5-6129-AB7F-D711-03FCA377AC7B}"/>
              </a:ext>
            </a:extLst>
          </p:cNvPr>
          <p:cNvSpPr/>
          <p:nvPr/>
        </p:nvSpPr>
        <p:spPr>
          <a:xfrm>
            <a:off x="11426255" y="8226457"/>
            <a:ext cx="814180" cy="510349"/>
          </a:xfrm>
          <a:prstGeom prst="roundRect">
            <a:avLst>
              <a:gd name="adj" fmla="val 9402"/>
            </a:avLst>
          </a:prstGeom>
          <a:solidFill>
            <a:srgbClr val="FEFEFE"/>
          </a:solidFill>
          <a:ln w="28575">
            <a:solidFill>
              <a:srgbClr val="F2AE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8" name="图片 367">
            <a:extLst>
              <a:ext uri="{FF2B5EF4-FFF2-40B4-BE49-F238E27FC236}">
                <a16:creationId xmlns:a16="http://schemas.microsoft.com/office/drawing/2014/main" id="{3F03941B-709A-E7AF-F3FE-187E2783828E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549779" y="8417631"/>
            <a:ext cx="553820" cy="250848"/>
          </a:xfrm>
          <a:prstGeom prst="rect">
            <a:avLst/>
          </a:prstGeom>
        </p:spPr>
      </p:pic>
      <p:pic>
        <p:nvPicPr>
          <p:cNvPr id="369" name="图片 368">
            <a:extLst>
              <a:ext uri="{FF2B5EF4-FFF2-40B4-BE49-F238E27FC236}">
                <a16:creationId xmlns:a16="http://schemas.microsoft.com/office/drawing/2014/main" id="{26280C4F-6E83-E5C4-5B29-E5782D600C4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579830" y="8457887"/>
            <a:ext cx="534273" cy="237817"/>
          </a:xfrm>
          <a:prstGeom prst="rect">
            <a:avLst/>
          </a:prstGeom>
        </p:spPr>
      </p:pic>
      <p:pic>
        <p:nvPicPr>
          <p:cNvPr id="370" name="图片 369">
            <a:extLst>
              <a:ext uri="{FF2B5EF4-FFF2-40B4-BE49-F238E27FC236}">
                <a16:creationId xmlns:a16="http://schemas.microsoft.com/office/drawing/2014/main" id="{7DF9BBC3-ACD2-E014-4C37-EF34073A9C5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623077" y="8447236"/>
            <a:ext cx="441427" cy="245961"/>
          </a:xfrm>
          <a:prstGeom prst="rect">
            <a:avLst/>
          </a:prstGeom>
        </p:spPr>
      </p:pic>
      <p:sp>
        <p:nvSpPr>
          <p:cNvPr id="371" name="文本框 370">
            <a:extLst>
              <a:ext uri="{FF2B5EF4-FFF2-40B4-BE49-F238E27FC236}">
                <a16:creationId xmlns:a16="http://schemas.microsoft.com/office/drawing/2014/main" id="{95271CAC-4258-ED04-F99A-16CDD8DA99E5}"/>
              </a:ext>
            </a:extLst>
          </p:cNvPr>
          <p:cNvSpPr txBox="1"/>
          <p:nvPr/>
        </p:nvSpPr>
        <p:spPr>
          <a:xfrm>
            <a:off x="9271365" y="8226457"/>
            <a:ext cx="1034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空间近邻</a:t>
            </a:r>
          </a:p>
        </p:txBody>
      </p:sp>
      <p:sp>
        <p:nvSpPr>
          <p:cNvPr id="372" name="文本框 371">
            <a:extLst>
              <a:ext uri="{FF2B5EF4-FFF2-40B4-BE49-F238E27FC236}">
                <a16:creationId xmlns:a16="http://schemas.microsoft.com/office/drawing/2014/main" id="{4F8CBA5B-93BD-9AA3-26C0-CAD7E21E4D84}"/>
              </a:ext>
            </a:extLst>
          </p:cNvPr>
          <p:cNvSpPr txBox="1"/>
          <p:nvPr/>
        </p:nvSpPr>
        <p:spPr>
          <a:xfrm>
            <a:off x="10301589" y="8226457"/>
            <a:ext cx="1034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轨迹语义</a:t>
            </a:r>
          </a:p>
        </p:txBody>
      </p:sp>
      <p:sp>
        <p:nvSpPr>
          <p:cNvPr id="373" name="文本框 372">
            <a:extLst>
              <a:ext uri="{FF2B5EF4-FFF2-40B4-BE49-F238E27FC236}">
                <a16:creationId xmlns:a16="http://schemas.microsoft.com/office/drawing/2014/main" id="{7BCA7FEB-29BA-AD8C-FEC1-3CEAF7899E94}"/>
              </a:ext>
            </a:extLst>
          </p:cNvPr>
          <p:cNvSpPr txBox="1"/>
          <p:nvPr/>
        </p:nvSpPr>
        <p:spPr>
          <a:xfrm>
            <a:off x="11331813" y="8226457"/>
            <a:ext cx="1034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扩展检索</a:t>
            </a:r>
          </a:p>
        </p:txBody>
      </p:sp>
      <p:sp>
        <p:nvSpPr>
          <p:cNvPr id="374" name="文本框 373">
            <a:extLst>
              <a:ext uri="{FF2B5EF4-FFF2-40B4-BE49-F238E27FC236}">
                <a16:creationId xmlns:a16="http://schemas.microsoft.com/office/drawing/2014/main" id="{99B0C8DC-5196-2158-0160-7E391AA60EF3}"/>
              </a:ext>
            </a:extLst>
          </p:cNvPr>
          <p:cNvSpPr txBox="1"/>
          <p:nvPr/>
        </p:nvSpPr>
        <p:spPr>
          <a:xfrm>
            <a:off x="12300504" y="8337331"/>
            <a:ext cx="356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…</a:t>
            </a:r>
            <a:endParaRPr lang="zh-CN" altLang="en-US" sz="1600" b="1" dirty="0">
              <a:latin typeface="+mn-ea"/>
            </a:endParaRPr>
          </a:p>
        </p:txBody>
      </p:sp>
      <p:grpSp>
        <p:nvGrpSpPr>
          <p:cNvPr id="379" name="组合 378">
            <a:extLst>
              <a:ext uri="{FF2B5EF4-FFF2-40B4-BE49-F238E27FC236}">
                <a16:creationId xmlns:a16="http://schemas.microsoft.com/office/drawing/2014/main" id="{015D25A0-A760-D9A5-1E45-780FCD98D932}"/>
              </a:ext>
            </a:extLst>
          </p:cNvPr>
          <p:cNvGrpSpPr/>
          <p:nvPr/>
        </p:nvGrpSpPr>
        <p:grpSpPr>
          <a:xfrm>
            <a:off x="9170555" y="8827838"/>
            <a:ext cx="3680780" cy="348241"/>
            <a:chOff x="9974144" y="7236274"/>
            <a:chExt cx="3680780" cy="348241"/>
          </a:xfrm>
        </p:grpSpPr>
        <p:sp>
          <p:nvSpPr>
            <p:cNvPr id="375" name="文本框 374">
              <a:extLst>
                <a:ext uri="{FF2B5EF4-FFF2-40B4-BE49-F238E27FC236}">
                  <a16:creationId xmlns:a16="http://schemas.microsoft.com/office/drawing/2014/main" id="{44153418-2355-0660-4ABA-958D64A8B0DC}"/>
                </a:ext>
              </a:extLst>
            </p:cNvPr>
            <p:cNvSpPr txBox="1"/>
            <p:nvPr/>
          </p:nvSpPr>
          <p:spPr>
            <a:xfrm>
              <a:off x="9974144" y="7267649"/>
              <a:ext cx="36807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latin typeface="+mn-ea"/>
                </a:rPr>
                <a:t>与       合并        去重</a:t>
              </a:r>
              <a:r>
                <a:rPr lang="en-US" altLang="zh-CN" sz="1200" b="1" dirty="0">
                  <a:latin typeface="+mn-ea"/>
                </a:rPr>
                <a:t>        </a:t>
              </a:r>
              <a:r>
                <a:rPr lang="zh-CN" altLang="en-US" sz="1200" b="1" dirty="0">
                  <a:latin typeface="+mn-ea"/>
                </a:rPr>
                <a:t>分数更新</a:t>
              </a:r>
            </a:p>
          </p:txBody>
        </p:sp>
        <p:pic>
          <p:nvPicPr>
            <p:cNvPr id="376" name="图片 375">
              <a:extLst>
                <a:ext uri="{FF2B5EF4-FFF2-40B4-BE49-F238E27FC236}">
                  <a16:creationId xmlns:a16="http://schemas.microsoft.com/office/drawing/2014/main" id="{99084481-6C28-C681-B4C2-F954DFF27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78703" y="7236274"/>
              <a:ext cx="345856" cy="348241"/>
            </a:xfrm>
            <a:prstGeom prst="rect">
              <a:avLst/>
            </a:prstGeom>
          </p:spPr>
        </p:pic>
        <p:cxnSp>
          <p:nvCxnSpPr>
            <p:cNvPr id="377" name="直接箭头连接符 376">
              <a:extLst>
                <a:ext uri="{FF2B5EF4-FFF2-40B4-BE49-F238E27FC236}">
                  <a16:creationId xmlns:a16="http://schemas.microsoft.com/office/drawing/2014/main" id="{E40D3A66-7BEE-633A-6531-C30A2179935F}"/>
                </a:ext>
              </a:extLst>
            </p:cNvPr>
            <p:cNvCxnSpPr>
              <a:cxnSpLocks/>
            </p:cNvCxnSpPr>
            <p:nvPr/>
          </p:nvCxnSpPr>
          <p:spPr>
            <a:xfrm>
              <a:off x="11450717" y="7403317"/>
              <a:ext cx="25969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箭头连接符 377">
              <a:extLst>
                <a:ext uri="{FF2B5EF4-FFF2-40B4-BE49-F238E27FC236}">
                  <a16:creationId xmlns:a16="http://schemas.microsoft.com/office/drawing/2014/main" id="{62A278FF-F0EC-D6C0-7093-03BB82DFAFF6}"/>
                </a:ext>
              </a:extLst>
            </p:cNvPr>
            <p:cNvCxnSpPr>
              <a:cxnSpLocks/>
            </p:cNvCxnSpPr>
            <p:nvPr/>
          </p:nvCxnSpPr>
          <p:spPr>
            <a:xfrm>
              <a:off x="12047897" y="7415509"/>
              <a:ext cx="25969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0" name="文本框 379">
            <a:extLst>
              <a:ext uri="{FF2B5EF4-FFF2-40B4-BE49-F238E27FC236}">
                <a16:creationId xmlns:a16="http://schemas.microsoft.com/office/drawing/2014/main" id="{2A005AA4-E556-CE5E-738B-29E2BABE6215}"/>
              </a:ext>
            </a:extLst>
          </p:cNvPr>
          <p:cNvSpPr txBox="1"/>
          <p:nvPr/>
        </p:nvSpPr>
        <p:spPr>
          <a:xfrm>
            <a:off x="9820875" y="9760990"/>
            <a:ext cx="1454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最终动态候选池</a:t>
            </a:r>
          </a:p>
        </p:txBody>
      </p:sp>
      <p:pic>
        <p:nvPicPr>
          <p:cNvPr id="382" name="图片 381">
            <a:extLst>
              <a:ext uri="{FF2B5EF4-FFF2-40B4-BE49-F238E27FC236}">
                <a16:creationId xmlns:a16="http://schemas.microsoft.com/office/drawing/2014/main" id="{C72E7F3F-FB42-1979-9CB1-0753D65F91FF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642" y="9760867"/>
            <a:ext cx="291602" cy="289109"/>
          </a:xfrm>
          <a:prstGeom prst="rect">
            <a:avLst/>
          </a:prstGeom>
        </p:spPr>
      </p:pic>
      <p:sp>
        <p:nvSpPr>
          <p:cNvPr id="383" name="椭圆 382">
            <a:extLst>
              <a:ext uri="{FF2B5EF4-FFF2-40B4-BE49-F238E27FC236}">
                <a16:creationId xmlns:a16="http://schemas.microsoft.com/office/drawing/2014/main" id="{CBA11FFD-294E-34A6-6C0C-04A0B8E98597}"/>
              </a:ext>
            </a:extLst>
          </p:cNvPr>
          <p:cNvSpPr/>
          <p:nvPr/>
        </p:nvSpPr>
        <p:spPr>
          <a:xfrm>
            <a:off x="9732728" y="10116176"/>
            <a:ext cx="155621" cy="155621"/>
          </a:xfrm>
          <a:prstGeom prst="ellipse">
            <a:avLst/>
          </a:prstGeom>
          <a:solidFill>
            <a:srgbClr val="FEFEFE"/>
          </a:solidFill>
          <a:ln w="28575">
            <a:solidFill>
              <a:srgbClr val="EF9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4" name="椭圆 383">
            <a:extLst>
              <a:ext uri="{FF2B5EF4-FFF2-40B4-BE49-F238E27FC236}">
                <a16:creationId xmlns:a16="http://schemas.microsoft.com/office/drawing/2014/main" id="{A8A6EB45-7088-D344-B14F-2DBD513B6FED}"/>
              </a:ext>
            </a:extLst>
          </p:cNvPr>
          <p:cNvSpPr/>
          <p:nvPr/>
        </p:nvSpPr>
        <p:spPr>
          <a:xfrm>
            <a:off x="10177736" y="10116176"/>
            <a:ext cx="155621" cy="155621"/>
          </a:xfrm>
          <a:prstGeom prst="ellipse">
            <a:avLst/>
          </a:prstGeom>
          <a:solidFill>
            <a:srgbClr val="FEFEFE"/>
          </a:solidFill>
          <a:ln w="28575">
            <a:solidFill>
              <a:srgbClr val="EF9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5" name="椭圆 384">
            <a:extLst>
              <a:ext uri="{FF2B5EF4-FFF2-40B4-BE49-F238E27FC236}">
                <a16:creationId xmlns:a16="http://schemas.microsoft.com/office/drawing/2014/main" id="{969D0904-09EA-3A83-0719-384FE336A24B}"/>
              </a:ext>
            </a:extLst>
          </p:cNvPr>
          <p:cNvSpPr/>
          <p:nvPr/>
        </p:nvSpPr>
        <p:spPr>
          <a:xfrm>
            <a:off x="10627974" y="10116176"/>
            <a:ext cx="155621" cy="155621"/>
          </a:xfrm>
          <a:prstGeom prst="ellipse">
            <a:avLst/>
          </a:prstGeom>
          <a:solidFill>
            <a:srgbClr val="FEFEFE"/>
          </a:solidFill>
          <a:ln w="28575">
            <a:solidFill>
              <a:srgbClr val="EF9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6" name="文本框 385">
            <a:extLst>
              <a:ext uri="{FF2B5EF4-FFF2-40B4-BE49-F238E27FC236}">
                <a16:creationId xmlns:a16="http://schemas.microsoft.com/office/drawing/2014/main" id="{A7C4A173-E7F1-284D-5475-7C8746F6BB65}"/>
              </a:ext>
            </a:extLst>
          </p:cNvPr>
          <p:cNvSpPr txBox="1"/>
          <p:nvPr/>
        </p:nvSpPr>
        <p:spPr>
          <a:xfrm>
            <a:off x="10819862" y="10024709"/>
            <a:ext cx="356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387" name="椭圆 386">
            <a:extLst>
              <a:ext uri="{FF2B5EF4-FFF2-40B4-BE49-F238E27FC236}">
                <a16:creationId xmlns:a16="http://schemas.microsoft.com/office/drawing/2014/main" id="{0A8229C8-16C8-3D26-7962-10B4BCE4377D}"/>
              </a:ext>
            </a:extLst>
          </p:cNvPr>
          <p:cNvSpPr/>
          <p:nvPr/>
        </p:nvSpPr>
        <p:spPr>
          <a:xfrm>
            <a:off x="11339280" y="10116176"/>
            <a:ext cx="155621" cy="155621"/>
          </a:xfrm>
          <a:prstGeom prst="ellipse">
            <a:avLst/>
          </a:prstGeom>
          <a:solidFill>
            <a:srgbClr val="FEFEFE"/>
          </a:solidFill>
          <a:ln w="28575">
            <a:solidFill>
              <a:srgbClr val="EF9B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DCB8C01-B7CD-2C27-FB45-15B847CF1A2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816101" y="6613990"/>
            <a:ext cx="3256519" cy="2322983"/>
          </a:xfrm>
          <a:prstGeom prst="rect">
            <a:avLst/>
          </a:prstGeom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539C5D8-E82D-9DBA-9153-C06B819841BA}"/>
              </a:ext>
            </a:extLst>
          </p:cNvPr>
          <p:cNvCxnSpPr>
            <a:cxnSpLocks/>
          </p:cNvCxnSpPr>
          <p:nvPr/>
        </p:nvCxnSpPr>
        <p:spPr>
          <a:xfrm>
            <a:off x="8873969" y="4051860"/>
            <a:ext cx="0" cy="4816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12FE574-7A59-AA92-8659-4C5FA66E4F99}"/>
              </a:ext>
            </a:extLst>
          </p:cNvPr>
          <p:cNvCxnSpPr>
            <a:cxnSpLocks/>
          </p:cNvCxnSpPr>
          <p:nvPr/>
        </p:nvCxnSpPr>
        <p:spPr>
          <a:xfrm>
            <a:off x="9506429" y="4051860"/>
            <a:ext cx="0" cy="4816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5AA9B8D-D806-5EF6-F34B-7B5459880E23}"/>
              </a:ext>
            </a:extLst>
          </p:cNvPr>
          <p:cNvCxnSpPr>
            <a:cxnSpLocks/>
          </p:cNvCxnSpPr>
          <p:nvPr/>
        </p:nvCxnSpPr>
        <p:spPr>
          <a:xfrm>
            <a:off x="12061173" y="4051860"/>
            <a:ext cx="0" cy="4816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9F0CDDE-6E7B-27B1-B5CD-4D74FB9206E5}"/>
              </a:ext>
            </a:extLst>
          </p:cNvPr>
          <p:cNvCxnSpPr>
            <a:cxnSpLocks/>
          </p:cNvCxnSpPr>
          <p:nvPr/>
        </p:nvCxnSpPr>
        <p:spPr>
          <a:xfrm>
            <a:off x="10133313" y="4051860"/>
            <a:ext cx="0" cy="4816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FB75875-79C4-2CE5-359A-8460A9BB9C18}"/>
              </a:ext>
            </a:extLst>
          </p:cNvPr>
          <p:cNvCxnSpPr>
            <a:cxnSpLocks/>
          </p:cNvCxnSpPr>
          <p:nvPr/>
        </p:nvCxnSpPr>
        <p:spPr>
          <a:xfrm>
            <a:off x="10758153" y="4051860"/>
            <a:ext cx="0" cy="4816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541BE57-4719-C25A-DCAF-1003A551B271}"/>
              </a:ext>
            </a:extLst>
          </p:cNvPr>
          <p:cNvCxnSpPr>
            <a:cxnSpLocks/>
          </p:cNvCxnSpPr>
          <p:nvPr/>
        </p:nvCxnSpPr>
        <p:spPr>
          <a:xfrm>
            <a:off x="11417283" y="4051860"/>
            <a:ext cx="0" cy="4816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菱形 45">
            <a:extLst>
              <a:ext uri="{FF2B5EF4-FFF2-40B4-BE49-F238E27FC236}">
                <a16:creationId xmlns:a16="http://schemas.microsoft.com/office/drawing/2014/main" id="{27597B1F-8836-6E71-15C3-0DCD31221440}"/>
              </a:ext>
            </a:extLst>
          </p:cNvPr>
          <p:cNvSpPr/>
          <p:nvPr/>
        </p:nvSpPr>
        <p:spPr>
          <a:xfrm>
            <a:off x="9488458" y="6958318"/>
            <a:ext cx="1993392" cy="735278"/>
          </a:xfrm>
          <a:prstGeom prst="diamond">
            <a:avLst/>
          </a:prstGeom>
          <a:solidFill>
            <a:srgbClr val="FDFDFC"/>
          </a:solidFill>
          <a:ln w="28575">
            <a:solidFill>
              <a:srgbClr val="FECD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8D92B9A-D65A-0F3C-5875-EC3940B92F56}"/>
              </a:ext>
            </a:extLst>
          </p:cNvPr>
          <p:cNvCxnSpPr>
            <a:cxnSpLocks/>
          </p:cNvCxnSpPr>
          <p:nvPr/>
        </p:nvCxnSpPr>
        <p:spPr>
          <a:xfrm>
            <a:off x="10497549" y="6678565"/>
            <a:ext cx="2811" cy="240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F68C9C06-B6C0-9F70-5F60-70876060CEB5}"/>
              </a:ext>
            </a:extLst>
          </p:cNvPr>
          <p:cNvSpPr txBox="1"/>
          <p:nvPr/>
        </p:nvSpPr>
        <p:spPr>
          <a:xfrm>
            <a:off x="10003141" y="7202663"/>
            <a:ext cx="1015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是否扩展</a:t>
            </a:r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F9595DAE-6658-A6C9-D229-D490839561FD}"/>
              </a:ext>
            </a:extLst>
          </p:cNvPr>
          <p:cNvCxnSpPr>
            <a:stCxn id="46" idx="3"/>
          </p:cNvCxnSpPr>
          <p:nvPr/>
        </p:nvCxnSpPr>
        <p:spPr>
          <a:xfrm>
            <a:off x="11481850" y="7325957"/>
            <a:ext cx="566730" cy="62932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7A4D2B3B-1B80-302F-C4E9-63F2B20298E1}"/>
              </a:ext>
            </a:extLst>
          </p:cNvPr>
          <p:cNvCxnSpPr>
            <a:stCxn id="46" idx="1"/>
          </p:cNvCxnSpPr>
          <p:nvPr/>
        </p:nvCxnSpPr>
        <p:spPr>
          <a:xfrm rot="10800000" flipV="1">
            <a:off x="8839200" y="7325956"/>
            <a:ext cx="649258" cy="233620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01F70196-AB26-7A25-C40E-68BEA1BD9AA5}"/>
              </a:ext>
            </a:extLst>
          </p:cNvPr>
          <p:cNvSpPr txBox="1"/>
          <p:nvPr/>
        </p:nvSpPr>
        <p:spPr>
          <a:xfrm>
            <a:off x="11517775" y="7061606"/>
            <a:ext cx="412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是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D3340F1-CA47-D8CB-8E91-7D064323FD19}"/>
              </a:ext>
            </a:extLst>
          </p:cNvPr>
          <p:cNvSpPr txBox="1"/>
          <p:nvPr/>
        </p:nvSpPr>
        <p:spPr>
          <a:xfrm>
            <a:off x="8964506" y="7061606"/>
            <a:ext cx="412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否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0BAF72BB-C6F7-0618-D5C4-44820DF2D870}"/>
              </a:ext>
            </a:extLst>
          </p:cNvPr>
          <p:cNvSpPr/>
          <p:nvPr/>
        </p:nvSpPr>
        <p:spPr>
          <a:xfrm>
            <a:off x="13069105" y="2599715"/>
            <a:ext cx="4343542" cy="7925423"/>
          </a:xfrm>
          <a:prstGeom prst="roundRect">
            <a:avLst>
              <a:gd name="adj" fmla="val 2852"/>
            </a:avLst>
          </a:prstGeom>
          <a:solidFill>
            <a:srgbClr val="FEFEFE"/>
          </a:solidFill>
          <a:ln w="28575">
            <a:solidFill>
              <a:srgbClr val="7CB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DF8FCD71-6623-FD53-AED2-C383BDCE3B10}"/>
              </a:ext>
            </a:extLst>
          </p:cNvPr>
          <p:cNvSpPr/>
          <p:nvPr/>
        </p:nvSpPr>
        <p:spPr>
          <a:xfrm>
            <a:off x="17594649" y="2619929"/>
            <a:ext cx="3765164" cy="7925423"/>
          </a:xfrm>
          <a:prstGeom prst="roundRect">
            <a:avLst>
              <a:gd name="adj" fmla="val 2852"/>
            </a:avLst>
          </a:prstGeom>
          <a:solidFill>
            <a:srgbClr val="FEFEFE"/>
          </a:solidFill>
          <a:ln w="28575">
            <a:solidFill>
              <a:srgbClr val="9AB0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10F8C5A-9C53-D3F6-578C-2C64C9F66AA6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3237122" y="2702486"/>
            <a:ext cx="437820" cy="459711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78631B3C-8E0B-1B35-B80C-E1BA94807904}"/>
              </a:ext>
            </a:extLst>
          </p:cNvPr>
          <p:cNvSpPr txBox="1"/>
          <p:nvPr/>
        </p:nvSpPr>
        <p:spPr>
          <a:xfrm>
            <a:off x="13574875" y="2747506"/>
            <a:ext cx="4007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09AD3"/>
                </a:solidFill>
                <a:latin typeface="+mn-ea"/>
              </a:rPr>
              <a:t>用户画像条件化的时空序列建模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19FC32B2-331E-B477-3980-BD5E8610EA5B}"/>
              </a:ext>
            </a:extLst>
          </p:cNvPr>
          <p:cNvSpPr/>
          <p:nvPr/>
        </p:nvSpPr>
        <p:spPr>
          <a:xfrm>
            <a:off x="13237123" y="3201844"/>
            <a:ext cx="3986904" cy="3307444"/>
          </a:xfrm>
          <a:prstGeom prst="roundRect">
            <a:avLst>
              <a:gd name="adj" fmla="val 2852"/>
            </a:avLst>
          </a:prstGeom>
          <a:solidFill>
            <a:srgbClr val="FEFEFE"/>
          </a:solidFill>
          <a:ln w="28575">
            <a:solidFill>
              <a:srgbClr val="7CB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E55D971-0BE2-DCCA-0B57-6C3324379D16}"/>
              </a:ext>
            </a:extLst>
          </p:cNvPr>
          <p:cNvSpPr txBox="1"/>
          <p:nvPr/>
        </p:nvSpPr>
        <p:spPr>
          <a:xfrm>
            <a:off x="13237122" y="3284582"/>
            <a:ext cx="2913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5464D6"/>
                </a:solidFill>
                <a:latin typeface="+mn-ea"/>
              </a:rPr>
              <a:t>A. </a:t>
            </a:r>
            <a:r>
              <a:rPr lang="zh-CN" altLang="en-US" sz="1600" b="1" dirty="0">
                <a:solidFill>
                  <a:srgbClr val="5464D6"/>
                </a:solidFill>
                <a:latin typeface="+mn-ea"/>
              </a:rPr>
              <a:t>构建时空增强历史签到序列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481AB6B-80F8-F115-A405-92448D62B26F}"/>
              </a:ext>
            </a:extLst>
          </p:cNvPr>
          <p:cNvSpPr txBox="1"/>
          <p:nvPr/>
        </p:nvSpPr>
        <p:spPr>
          <a:xfrm>
            <a:off x="13456216" y="3607853"/>
            <a:ext cx="1898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历史融合</a:t>
            </a:r>
            <a:r>
              <a:rPr lang="en-US" altLang="zh-CN" sz="1200" b="1" dirty="0">
                <a:latin typeface="+mn-ea"/>
              </a:rPr>
              <a:t>POI</a:t>
            </a:r>
            <a:r>
              <a:rPr lang="zh-CN" altLang="en-US" sz="1200" b="1" dirty="0">
                <a:latin typeface="+mn-ea"/>
              </a:rPr>
              <a:t>表示序列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5A3A325-9198-73A4-43C1-EADEF93E1AD3}"/>
              </a:ext>
            </a:extLst>
          </p:cNvPr>
          <p:cNvSpPr/>
          <p:nvPr/>
        </p:nvSpPr>
        <p:spPr>
          <a:xfrm>
            <a:off x="13428612" y="3854964"/>
            <a:ext cx="612644" cy="374820"/>
          </a:xfrm>
          <a:prstGeom prst="rect">
            <a:avLst/>
          </a:prstGeom>
          <a:solidFill>
            <a:srgbClr val="FCEBC6"/>
          </a:solidFill>
          <a:ln>
            <a:solidFill>
              <a:srgbClr val="DFBA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C3373B1-3ECF-2F19-F996-2716DD143194}"/>
              </a:ext>
            </a:extLst>
          </p:cNvPr>
          <p:cNvSpPr/>
          <p:nvPr/>
        </p:nvSpPr>
        <p:spPr>
          <a:xfrm>
            <a:off x="14451904" y="3854964"/>
            <a:ext cx="612644" cy="374820"/>
          </a:xfrm>
          <a:prstGeom prst="rect">
            <a:avLst/>
          </a:prstGeom>
          <a:solidFill>
            <a:srgbClr val="FCEBC6"/>
          </a:solidFill>
          <a:ln>
            <a:solidFill>
              <a:srgbClr val="DFBA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4944CB9-A3C7-2A92-A521-ABAFF80D6F46}"/>
              </a:ext>
            </a:extLst>
          </p:cNvPr>
          <p:cNvSpPr/>
          <p:nvPr/>
        </p:nvSpPr>
        <p:spPr>
          <a:xfrm>
            <a:off x="16327012" y="3854964"/>
            <a:ext cx="612644" cy="374820"/>
          </a:xfrm>
          <a:prstGeom prst="rect">
            <a:avLst/>
          </a:prstGeom>
          <a:solidFill>
            <a:srgbClr val="FCEBC6"/>
          </a:solidFill>
          <a:ln>
            <a:solidFill>
              <a:srgbClr val="DFBA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10EBA0FD-3AFA-67BE-38BB-6F7664A1773F}"/>
              </a:ext>
            </a:extLst>
          </p:cNvPr>
          <p:cNvCxnSpPr>
            <a:cxnSpLocks/>
          </p:cNvCxnSpPr>
          <p:nvPr/>
        </p:nvCxnSpPr>
        <p:spPr>
          <a:xfrm>
            <a:off x="14141302" y="4029264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A1AC17B8-F481-EE6A-23DE-EBAE0BA76D82}"/>
              </a:ext>
            </a:extLst>
          </p:cNvPr>
          <p:cNvCxnSpPr>
            <a:cxnSpLocks/>
          </p:cNvCxnSpPr>
          <p:nvPr/>
        </p:nvCxnSpPr>
        <p:spPr>
          <a:xfrm>
            <a:off x="15124282" y="4029264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B946FFE8-17F1-F990-5FCD-4D0990CDD622}"/>
              </a:ext>
            </a:extLst>
          </p:cNvPr>
          <p:cNvSpPr txBox="1"/>
          <p:nvPr/>
        </p:nvSpPr>
        <p:spPr>
          <a:xfrm>
            <a:off x="15425636" y="3854333"/>
            <a:ext cx="347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…</a:t>
            </a:r>
            <a:endParaRPr lang="zh-CN" altLang="en-US" sz="1600" b="1" dirty="0">
              <a:latin typeface="+mn-ea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1611E0EF-7D3A-4BC2-7715-E95AFE1FE056}"/>
              </a:ext>
            </a:extLst>
          </p:cNvPr>
          <p:cNvCxnSpPr>
            <a:cxnSpLocks/>
          </p:cNvCxnSpPr>
          <p:nvPr/>
        </p:nvCxnSpPr>
        <p:spPr>
          <a:xfrm>
            <a:off x="15870012" y="4029264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图片 76">
            <a:extLst>
              <a:ext uri="{FF2B5EF4-FFF2-40B4-BE49-F238E27FC236}">
                <a16:creationId xmlns:a16="http://schemas.microsoft.com/office/drawing/2014/main" id="{68351135-D5F6-3EE9-5C51-DD3F52DF0F4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4579" y="3818862"/>
            <a:ext cx="468798" cy="476421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D24B7F35-6E9D-FD39-8683-72FF4D34CC9A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830" y="3834547"/>
            <a:ext cx="484044" cy="476421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41ADA58E-BDD8-370D-86CA-DF9F62535785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1984" y="3818862"/>
            <a:ext cx="747028" cy="476421"/>
          </a:xfrm>
          <a:prstGeom prst="rect">
            <a:avLst/>
          </a:prstGeom>
        </p:spPr>
      </p:pic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40FC034F-33C2-152F-8F8B-72ADCA422651}"/>
              </a:ext>
            </a:extLst>
          </p:cNvPr>
          <p:cNvSpPr/>
          <p:nvPr/>
        </p:nvSpPr>
        <p:spPr>
          <a:xfrm>
            <a:off x="13400235" y="4318370"/>
            <a:ext cx="1620309" cy="764002"/>
          </a:xfrm>
          <a:prstGeom prst="roundRect">
            <a:avLst>
              <a:gd name="adj" fmla="val 13225"/>
            </a:avLst>
          </a:prstGeom>
          <a:solidFill>
            <a:srgbClr val="FEFEFE"/>
          </a:solidFill>
          <a:ln w="28575">
            <a:solidFill>
              <a:srgbClr val="7CB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D3F1B6C7-E838-B411-70F3-56896E2D8573}"/>
              </a:ext>
            </a:extLst>
          </p:cNvPr>
          <p:cNvSpPr/>
          <p:nvPr/>
        </p:nvSpPr>
        <p:spPr>
          <a:xfrm>
            <a:off x="15394031" y="4318370"/>
            <a:ext cx="1620309" cy="764002"/>
          </a:xfrm>
          <a:prstGeom prst="roundRect">
            <a:avLst>
              <a:gd name="adj" fmla="val 13225"/>
            </a:avLst>
          </a:prstGeom>
          <a:solidFill>
            <a:srgbClr val="FEFEFE"/>
          </a:solidFill>
          <a:ln w="28575">
            <a:solidFill>
              <a:srgbClr val="7CB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792988A7-D2D3-E821-3775-A1056AFB4653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3460779" y="4380746"/>
            <a:ext cx="459885" cy="555694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AD5A5F72-C349-BD28-0A9D-0DEFBAC1621D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5431420" y="4438761"/>
            <a:ext cx="519674" cy="544820"/>
          </a:xfrm>
          <a:prstGeom prst="rect">
            <a:avLst/>
          </a:prstGeom>
        </p:spPr>
      </p:pic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D3E31DF8-342F-B482-4212-0402B0E2CDD9}"/>
              </a:ext>
            </a:extLst>
          </p:cNvPr>
          <p:cNvGrpSpPr/>
          <p:nvPr/>
        </p:nvGrpSpPr>
        <p:grpSpPr>
          <a:xfrm>
            <a:off x="13944728" y="4766100"/>
            <a:ext cx="957510" cy="162729"/>
            <a:chOff x="219687" y="13260558"/>
            <a:chExt cx="1180314" cy="257235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038EE553-443E-BC8C-E3BA-383B39753D2E}"/>
                </a:ext>
              </a:extLst>
            </p:cNvPr>
            <p:cNvSpPr/>
            <p:nvPr/>
          </p:nvSpPr>
          <p:spPr>
            <a:xfrm>
              <a:off x="219687" y="13260558"/>
              <a:ext cx="240964" cy="257235"/>
            </a:xfrm>
            <a:prstGeom prst="rect">
              <a:avLst/>
            </a:prstGeom>
            <a:solidFill>
              <a:srgbClr val="BAD1F2"/>
            </a:solidFill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F6A1C4F0-ACD8-1F7D-4E67-6A8774A2F250}"/>
                </a:ext>
              </a:extLst>
            </p:cNvPr>
            <p:cNvSpPr/>
            <p:nvPr/>
          </p:nvSpPr>
          <p:spPr>
            <a:xfrm>
              <a:off x="460650" y="13260558"/>
              <a:ext cx="240964" cy="257235"/>
            </a:xfrm>
            <a:prstGeom prst="rect">
              <a:avLst/>
            </a:prstGeom>
            <a:solidFill>
              <a:srgbClr val="BAD1F2"/>
            </a:solidFill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0A58DDE1-7954-FCC7-AAE7-74B7C64AF63D}"/>
                </a:ext>
              </a:extLst>
            </p:cNvPr>
            <p:cNvSpPr/>
            <p:nvPr/>
          </p:nvSpPr>
          <p:spPr>
            <a:xfrm>
              <a:off x="689512" y="13260558"/>
              <a:ext cx="240964" cy="257235"/>
            </a:xfrm>
            <a:prstGeom prst="rect">
              <a:avLst/>
            </a:prstGeom>
            <a:solidFill>
              <a:srgbClr val="BAD1F2"/>
            </a:solidFill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1A7491C3-D624-314F-8424-A7AD80EA1F2F}"/>
                </a:ext>
              </a:extLst>
            </p:cNvPr>
            <p:cNvSpPr/>
            <p:nvPr/>
          </p:nvSpPr>
          <p:spPr>
            <a:xfrm>
              <a:off x="930475" y="13260558"/>
              <a:ext cx="240964" cy="257235"/>
            </a:xfrm>
            <a:prstGeom prst="rect">
              <a:avLst/>
            </a:prstGeom>
            <a:solidFill>
              <a:srgbClr val="BAD1F2"/>
            </a:solidFill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68D0A73A-CA99-34EA-6FF5-1D58D06DEB21}"/>
                </a:ext>
              </a:extLst>
            </p:cNvPr>
            <p:cNvSpPr/>
            <p:nvPr/>
          </p:nvSpPr>
          <p:spPr>
            <a:xfrm>
              <a:off x="1159037" y="13260558"/>
              <a:ext cx="240964" cy="257235"/>
            </a:xfrm>
            <a:prstGeom prst="rect">
              <a:avLst/>
            </a:prstGeom>
            <a:solidFill>
              <a:srgbClr val="BAD1F2"/>
            </a:solidFill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A030D3C7-5F19-3363-0A6C-832F658A3CB3}"/>
              </a:ext>
            </a:extLst>
          </p:cNvPr>
          <p:cNvGrpSpPr/>
          <p:nvPr/>
        </p:nvGrpSpPr>
        <p:grpSpPr>
          <a:xfrm>
            <a:off x="15982146" y="4772071"/>
            <a:ext cx="957510" cy="162729"/>
            <a:chOff x="219687" y="13260558"/>
            <a:chExt cx="1180314" cy="257235"/>
          </a:xfrm>
        </p:grpSpPr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B53CE3E1-499D-AD63-DD9F-298AF61921E2}"/>
                </a:ext>
              </a:extLst>
            </p:cNvPr>
            <p:cNvSpPr/>
            <p:nvPr/>
          </p:nvSpPr>
          <p:spPr>
            <a:xfrm>
              <a:off x="219687" y="13260558"/>
              <a:ext cx="240964" cy="257235"/>
            </a:xfrm>
            <a:prstGeom prst="rect">
              <a:avLst/>
            </a:prstGeom>
            <a:solidFill>
              <a:srgbClr val="BAD1F2"/>
            </a:solidFill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39ACB50C-5F5F-FF6E-2942-E65E19850004}"/>
                </a:ext>
              </a:extLst>
            </p:cNvPr>
            <p:cNvSpPr/>
            <p:nvPr/>
          </p:nvSpPr>
          <p:spPr>
            <a:xfrm>
              <a:off x="460650" y="13260558"/>
              <a:ext cx="240964" cy="257235"/>
            </a:xfrm>
            <a:prstGeom prst="rect">
              <a:avLst/>
            </a:prstGeom>
            <a:solidFill>
              <a:srgbClr val="BAD1F2"/>
            </a:solidFill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95B3AABB-4F84-1369-B435-E13559E068AE}"/>
                </a:ext>
              </a:extLst>
            </p:cNvPr>
            <p:cNvSpPr/>
            <p:nvPr/>
          </p:nvSpPr>
          <p:spPr>
            <a:xfrm>
              <a:off x="689512" y="13260558"/>
              <a:ext cx="240964" cy="257235"/>
            </a:xfrm>
            <a:prstGeom prst="rect">
              <a:avLst/>
            </a:prstGeom>
            <a:solidFill>
              <a:srgbClr val="BAD1F2"/>
            </a:solidFill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95DB0FFB-4D43-B432-AAEA-CC8C1C424BBA}"/>
                </a:ext>
              </a:extLst>
            </p:cNvPr>
            <p:cNvSpPr/>
            <p:nvPr/>
          </p:nvSpPr>
          <p:spPr>
            <a:xfrm>
              <a:off x="930475" y="13260558"/>
              <a:ext cx="240964" cy="257235"/>
            </a:xfrm>
            <a:prstGeom prst="rect">
              <a:avLst/>
            </a:prstGeom>
            <a:solidFill>
              <a:srgbClr val="BAD1F2"/>
            </a:solidFill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F7D45525-2815-ADEC-B8BC-BEC9463E760C}"/>
                </a:ext>
              </a:extLst>
            </p:cNvPr>
            <p:cNvSpPr/>
            <p:nvPr/>
          </p:nvSpPr>
          <p:spPr>
            <a:xfrm>
              <a:off x="1159037" y="13260558"/>
              <a:ext cx="240964" cy="257235"/>
            </a:xfrm>
            <a:prstGeom prst="rect">
              <a:avLst/>
            </a:prstGeom>
            <a:solidFill>
              <a:srgbClr val="BAD1F2"/>
            </a:solidFill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6" name="文本框 145">
            <a:extLst>
              <a:ext uri="{FF2B5EF4-FFF2-40B4-BE49-F238E27FC236}">
                <a16:creationId xmlns:a16="http://schemas.microsoft.com/office/drawing/2014/main" id="{CC20823D-7989-3AF2-7F34-577898E8F2A9}"/>
              </a:ext>
            </a:extLst>
          </p:cNvPr>
          <p:cNvSpPr txBox="1"/>
          <p:nvPr/>
        </p:nvSpPr>
        <p:spPr>
          <a:xfrm>
            <a:off x="13872976" y="4341376"/>
            <a:ext cx="1034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相对末次位置空间编码</a:t>
            </a: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E08D75C3-ACC2-C907-A3BE-65B3DFA737EA}"/>
              </a:ext>
            </a:extLst>
          </p:cNvPr>
          <p:cNvSpPr txBox="1"/>
          <p:nvPr/>
        </p:nvSpPr>
        <p:spPr>
          <a:xfrm>
            <a:off x="15905521" y="4341376"/>
            <a:ext cx="1034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历史签到时间槽编码</a:t>
            </a: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7173C25D-F6CA-E2F0-DB26-E0F14F599098}"/>
              </a:ext>
            </a:extLst>
          </p:cNvPr>
          <p:cNvSpPr txBox="1"/>
          <p:nvPr/>
        </p:nvSpPr>
        <p:spPr>
          <a:xfrm>
            <a:off x="15047684" y="4514882"/>
            <a:ext cx="347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+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0A001D0-E5B7-3F10-3FB3-30F8D2F80175}"/>
              </a:ext>
            </a:extLst>
          </p:cNvPr>
          <p:cNvSpPr txBox="1"/>
          <p:nvPr/>
        </p:nvSpPr>
        <p:spPr>
          <a:xfrm>
            <a:off x="14450190" y="5268704"/>
            <a:ext cx="1549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时空增强签到序列</a:t>
            </a:r>
          </a:p>
        </p:txBody>
      </p:sp>
      <p:sp>
        <p:nvSpPr>
          <p:cNvPr id="151" name="右大括号 150">
            <a:extLst>
              <a:ext uri="{FF2B5EF4-FFF2-40B4-BE49-F238E27FC236}">
                <a16:creationId xmlns:a16="http://schemas.microsoft.com/office/drawing/2014/main" id="{0FF6DE04-69AC-EE7E-B23B-744A3197E016}"/>
              </a:ext>
            </a:extLst>
          </p:cNvPr>
          <p:cNvSpPr/>
          <p:nvPr/>
        </p:nvSpPr>
        <p:spPr>
          <a:xfrm rot="5400000">
            <a:off x="15103896" y="4373864"/>
            <a:ext cx="189167" cy="1602763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B9FCC033-695B-559F-5C55-16EEF7B15DCD}"/>
              </a:ext>
            </a:extLst>
          </p:cNvPr>
          <p:cNvSpPr/>
          <p:nvPr/>
        </p:nvSpPr>
        <p:spPr>
          <a:xfrm>
            <a:off x="13428612" y="5532555"/>
            <a:ext cx="612644" cy="374820"/>
          </a:xfrm>
          <a:prstGeom prst="rect">
            <a:avLst/>
          </a:prstGeom>
          <a:solidFill>
            <a:srgbClr val="CEDCF4"/>
          </a:solidFill>
          <a:ln>
            <a:solidFill>
              <a:srgbClr val="71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42C8379E-268A-77D9-BA6F-B4ABAA431866}"/>
              </a:ext>
            </a:extLst>
          </p:cNvPr>
          <p:cNvSpPr/>
          <p:nvPr/>
        </p:nvSpPr>
        <p:spPr>
          <a:xfrm>
            <a:off x="14451904" y="5532555"/>
            <a:ext cx="612644" cy="374820"/>
          </a:xfrm>
          <a:prstGeom prst="rect">
            <a:avLst/>
          </a:prstGeom>
          <a:solidFill>
            <a:srgbClr val="CEDCF4"/>
          </a:solidFill>
          <a:ln>
            <a:solidFill>
              <a:srgbClr val="71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C7E2D025-92EC-1BEC-A733-C5705FDFEF6D}"/>
              </a:ext>
            </a:extLst>
          </p:cNvPr>
          <p:cNvSpPr/>
          <p:nvPr/>
        </p:nvSpPr>
        <p:spPr>
          <a:xfrm>
            <a:off x="16327012" y="5532555"/>
            <a:ext cx="612644" cy="374820"/>
          </a:xfrm>
          <a:prstGeom prst="rect">
            <a:avLst/>
          </a:prstGeom>
          <a:solidFill>
            <a:srgbClr val="CEDCF4"/>
          </a:solidFill>
          <a:ln>
            <a:solidFill>
              <a:srgbClr val="719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07257F13-5619-6264-BA30-2A040DE37D9D}"/>
              </a:ext>
            </a:extLst>
          </p:cNvPr>
          <p:cNvCxnSpPr>
            <a:cxnSpLocks/>
          </p:cNvCxnSpPr>
          <p:nvPr/>
        </p:nvCxnSpPr>
        <p:spPr>
          <a:xfrm>
            <a:off x="14141302" y="5706855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DF66E022-7C03-0E9D-37FD-1E18F0CFA20C}"/>
              </a:ext>
            </a:extLst>
          </p:cNvPr>
          <p:cNvCxnSpPr>
            <a:cxnSpLocks/>
          </p:cNvCxnSpPr>
          <p:nvPr/>
        </p:nvCxnSpPr>
        <p:spPr>
          <a:xfrm>
            <a:off x="15124282" y="5706855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文本框 164">
            <a:extLst>
              <a:ext uri="{FF2B5EF4-FFF2-40B4-BE49-F238E27FC236}">
                <a16:creationId xmlns:a16="http://schemas.microsoft.com/office/drawing/2014/main" id="{158D3CB8-2169-A1C5-042D-467A63A6038F}"/>
              </a:ext>
            </a:extLst>
          </p:cNvPr>
          <p:cNvSpPr txBox="1"/>
          <p:nvPr/>
        </p:nvSpPr>
        <p:spPr>
          <a:xfrm>
            <a:off x="15425636" y="5531924"/>
            <a:ext cx="347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…</a:t>
            </a:r>
            <a:endParaRPr lang="zh-CN" altLang="en-US" sz="1600" b="1" dirty="0">
              <a:latin typeface="+mn-ea"/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8EDFDE01-AC14-BFA4-A7A2-C9F49D0D79E2}"/>
              </a:ext>
            </a:extLst>
          </p:cNvPr>
          <p:cNvCxnSpPr>
            <a:cxnSpLocks/>
          </p:cNvCxnSpPr>
          <p:nvPr/>
        </p:nvCxnSpPr>
        <p:spPr>
          <a:xfrm>
            <a:off x="15870012" y="5706855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图片 170">
            <a:extLst>
              <a:ext uri="{FF2B5EF4-FFF2-40B4-BE49-F238E27FC236}">
                <a16:creationId xmlns:a16="http://schemas.microsoft.com/office/drawing/2014/main" id="{C7C695C2-4D05-B70C-B3CA-0720466C3362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801" y="5489333"/>
            <a:ext cx="470917" cy="502921"/>
          </a:xfrm>
          <a:prstGeom prst="rect">
            <a:avLst/>
          </a:prstGeom>
        </p:spPr>
      </p:pic>
      <p:pic>
        <p:nvPicPr>
          <p:cNvPr id="173" name="图片 172">
            <a:extLst>
              <a:ext uri="{FF2B5EF4-FFF2-40B4-BE49-F238E27FC236}">
                <a16:creationId xmlns:a16="http://schemas.microsoft.com/office/drawing/2014/main" id="{E1ECE9AB-594B-ACA9-9DC4-BECD22FAFE7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0987" y="5480733"/>
            <a:ext cx="484633" cy="502921"/>
          </a:xfrm>
          <a:prstGeom prst="rect">
            <a:avLst/>
          </a:prstGeom>
        </p:spPr>
      </p:pic>
      <p:pic>
        <p:nvPicPr>
          <p:cNvPr id="175" name="图片 174">
            <a:extLst>
              <a:ext uri="{FF2B5EF4-FFF2-40B4-BE49-F238E27FC236}">
                <a16:creationId xmlns:a16="http://schemas.microsoft.com/office/drawing/2014/main" id="{48A9273A-7960-6487-3003-A1374947E37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3622" y="5477830"/>
            <a:ext cx="672085" cy="502921"/>
          </a:xfrm>
          <a:prstGeom prst="rect">
            <a:avLst/>
          </a:prstGeom>
        </p:spPr>
      </p:pic>
      <p:sp>
        <p:nvSpPr>
          <p:cNvPr id="176" name="矩形: 圆角 175">
            <a:extLst>
              <a:ext uri="{FF2B5EF4-FFF2-40B4-BE49-F238E27FC236}">
                <a16:creationId xmlns:a16="http://schemas.microsoft.com/office/drawing/2014/main" id="{012E88EC-05C6-D443-2783-202E17E8EBE4}"/>
              </a:ext>
            </a:extLst>
          </p:cNvPr>
          <p:cNvSpPr/>
          <p:nvPr/>
        </p:nvSpPr>
        <p:spPr>
          <a:xfrm>
            <a:off x="13424805" y="6024331"/>
            <a:ext cx="3514851" cy="370410"/>
          </a:xfrm>
          <a:prstGeom prst="roundRect">
            <a:avLst>
              <a:gd name="adj" fmla="val 38346"/>
            </a:avLst>
          </a:prstGeom>
          <a:solidFill>
            <a:srgbClr val="FEFEFE"/>
          </a:solidFill>
          <a:ln w="28575">
            <a:solidFill>
              <a:srgbClr val="7CB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B0F25F9B-0472-2ED5-45C4-DD3D4E62094E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t="15322" b="11369"/>
          <a:stretch>
            <a:fillRect/>
          </a:stretch>
        </p:blipFill>
        <p:spPr>
          <a:xfrm>
            <a:off x="14111691" y="6064678"/>
            <a:ext cx="2092495" cy="305688"/>
          </a:xfrm>
          <a:prstGeom prst="rect">
            <a:avLst/>
          </a:prstGeom>
        </p:spPr>
      </p:pic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2846443D-CA9E-A6FA-6B42-A2671363DD10}"/>
              </a:ext>
            </a:extLst>
          </p:cNvPr>
          <p:cNvSpPr/>
          <p:nvPr/>
        </p:nvSpPr>
        <p:spPr>
          <a:xfrm>
            <a:off x="13237122" y="6594932"/>
            <a:ext cx="3986904" cy="1297028"/>
          </a:xfrm>
          <a:prstGeom prst="roundRect">
            <a:avLst>
              <a:gd name="adj" fmla="val 2852"/>
            </a:avLst>
          </a:prstGeom>
          <a:solidFill>
            <a:srgbClr val="FEFEFE"/>
          </a:solidFill>
          <a:ln w="28575">
            <a:solidFill>
              <a:srgbClr val="7CB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C8C3E4EC-007D-C13F-4E2A-BB3DEEB825D4}"/>
              </a:ext>
            </a:extLst>
          </p:cNvPr>
          <p:cNvSpPr txBox="1"/>
          <p:nvPr/>
        </p:nvSpPr>
        <p:spPr>
          <a:xfrm>
            <a:off x="13237122" y="6586402"/>
            <a:ext cx="2913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5464D6"/>
                </a:solidFill>
                <a:latin typeface="+mn-ea"/>
              </a:rPr>
              <a:t>B. </a:t>
            </a:r>
            <a:r>
              <a:rPr lang="zh-CN" altLang="en-US" sz="1600" b="1" dirty="0">
                <a:solidFill>
                  <a:srgbClr val="5464D6"/>
                </a:solidFill>
                <a:latin typeface="+mn-ea"/>
              </a:rPr>
              <a:t>画像条件化的序列编码</a:t>
            </a:r>
          </a:p>
        </p:txBody>
      </p:sp>
      <p:pic>
        <p:nvPicPr>
          <p:cNvPr id="182" name="图片 181">
            <a:extLst>
              <a:ext uri="{FF2B5EF4-FFF2-40B4-BE49-F238E27FC236}">
                <a16:creationId xmlns:a16="http://schemas.microsoft.com/office/drawing/2014/main" id="{F8E94A7C-9CF2-0804-8DD2-EE527CD382CF}"/>
              </a:ext>
            </a:extLst>
          </p:cNvPr>
          <p:cNvPicPr>
            <a:picLocks noChangeAspect="1"/>
          </p:cNvPicPr>
          <p:nvPr/>
        </p:nvPicPr>
        <p:blipFill>
          <a:blip r:embed="rId54"/>
          <a:srcRect r="22461" b="-11279"/>
          <a:stretch>
            <a:fillRect/>
          </a:stretch>
        </p:blipFill>
        <p:spPr>
          <a:xfrm>
            <a:off x="13400235" y="6938666"/>
            <a:ext cx="1484165" cy="501174"/>
          </a:xfrm>
          <a:prstGeom prst="rect">
            <a:avLst/>
          </a:prstGeom>
        </p:spPr>
      </p:pic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302934C8-37B7-51AC-A98B-DBDA2436AD32}"/>
              </a:ext>
            </a:extLst>
          </p:cNvPr>
          <p:cNvSpPr/>
          <p:nvPr/>
        </p:nvSpPr>
        <p:spPr>
          <a:xfrm>
            <a:off x="13596629" y="7462956"/>
            <a:ext cx="3218268" cy="338015"/>
          </a:xfrm>
          <a:prstGeom prst="roundRect">
            <a:avLst>
              <a:gd name="adj" fmla="val 30580"/>
            </a:avLst>
          </a:prstGeom>
          <a:solidFill>
            <a:srgbClr val="EAF1F9"/>
          </a:solidFill>
          <a:ln w="28575">
            <a:solidFill>
              <a:srgbClr val="627E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B6CFB880-D3DA-68F7-E1D2-4F806717B70C}"/>
              </a:ext>
            </a:extLst>
          </p:cNvPr>
          <p:cNvSpPr txBox="1"/>
          <p:nvPr/>
        </p:nvSpPr>
        <p:spPr>
          <a:xfrm>
            <a:off x="14026776" y="7485327"/>
            <a:ext cx="2306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因果 </a:t>
            </a:r>
            <a:r>
              <a:rPr lang="en-US" altLang="zh-CN" sz="1200" b="1" dirty="0">
                <a:latin typeface="+mn-ea"/>
              </a:rPr>
              <a:t>Transformer </a:t>
            </a:r>
            <a:r>
              <a:rPr lang="zh-CN" altLang="en-US" sz="1200" b="1" dirty="0">
                <a:latin typeface="+mn-ea"/>
              </a:rPr>
              <a:t>序列编码器</a:t>
            </a: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FBAF470F-27CB-F6CB-46E1-51933236FF08}"/>
              </a:ext>
            </a:extLst>
          </p:cNvPr>
          <p:cNvSpPr txBox="1"/>
          <p:nvPr/>
        </p:nvSpPr>
        <p:spPr>
          <a:xfrm>
            <a:off x="14829244" y="7007981"/>
            <a:ext cx="347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+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208" name="图片 207">
            <a:extLst>
              <a:ext uri="{FF2B5EF4-FFF2-40B4-BE49-F238E27FC236}">
                <a16:creationId xmlns:a16="http://schemas.microsoft.com/office/drawing/2014/main" id="{404DB715-F24B-5962-F178-56EB98E30960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5200286" y="6938666"/>
            <a:ext cx="1805688" cy="261965"/>
          </a:xfrm>
          <a:prstGeom prst="rect">
            <a:avLst/>
          </a:prstGeom>
        </p:spPr>
      </p:pic>
      <p:sp>
        <p:nvSpPr>
          <p:cNvPr id="210" name="文本框 209">
            <a:extLst>
              <a:ext uri="{FF2B5EF4-FFF2-40B4-BE49-F238E27FC236}">
                <a16:creationId xmlns:a16="http://schemas.microsoft.com/office/drawing/2014/main" id="{C63B3268-F192-7C41-C4FB-828E8C917999}"/>
              </a:ext>
            </a:extLst>
          </p:cNvPr>
          <p:cNvSpPr txBox="1"/>
          <p:nvPr/>
        </p:nvSpPr>
        <p:spPr>
          <a:xfrm>
            <a:off x="14856313" y="7150842"/>
            <a:ext cx="1549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条件序列</a:t>
            </a:r>
          </a:p>
        </p:txBody>
      </p:sp>
      <p:pic>
        <p:nvPicPr>
          <p:cNvPr id="212" name="图片 211">
            <a:extLst>
              <a:ext uri="{FF2B5EF4-FFF2-40B4-BE49-F238E27FC236}">
                <a16:creationId xmlns:a16="http://schemas.microsoft.com/office/drawing/2014/main" id="{E27C5D1D-8861-2C73-9DE5-B72CA9A62CDD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5945014" y="7157262"/>
            <a:ext cx="929497" cy="249378"/>
          </a:xfrm>
          <a:prstGeom prst="rect">
            <a:avLst/>
          </a:prstGeom>
        </p:spPr>
      </p:pic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29EFCFF4-DFA9-F5BB-D259-A4BE57D0608C}"/>
              </a:ext>
            </a:extLst>
          </p:cNvPr>
          <p:cNvSpPr/>
          <p:nvPr/>
        </p:nvSpPr>
        <p:spPr>
          <a:xfrm>
            <a:off x="13237122" y="7984818"/>
            <a:ext cx="3986904" cy="2464742"/>
          </a:xfrm>
          <a:prstGeom prst="roundRect">
            <a:avLst>
              <a:gd name="adj" fmla="val 2852"/>
            </a:avLst>
          </a:prstGeom>
          <a:solidFill>
            <a:srgbClr val="FEFEFE"/>
          </a:solidFill>
          <a:ln w="28575">
            <a:solidFill>
              <a:srgbClr val="7CB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DE89D359-9BCA-F82D-77CB-82FCD6E50946}"/>
              </a:ext>
            </a:extLst>
          </p:cNvPr>
          <p:cNvSpPr txBox="1"/>
          <p:nvPr/>
        </p:nvSpPr>
        <p:spPr>
          <a:xfrm>
            <a:off x="13237122" y="7998425"/>
            <a:ext cx="2913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5464D6"/>
                </a:solidFill>
                <a:latin typeface="+mn-ea"/>
              </a:rPr>
              <a:t>C. </a:t>
            </a:r>
            <a:r>
              <a:rPr lang="zh-CN" altLang="en-US" sz="1600" b="1" dirty="0">
                <a:solidFill>
                  <a:srgbClr val="5464D6"/>
                </a:solidFill>
                <a:latin typeface="+mn-ea"/>
              </a:rPr>
              <a:t>目标条件化的查询构建</a:t>
            </a:r>
          </a:p>
        </p:txBody>
      </p: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20AC110D-1244-241C-89F4-79C214E981E5}"/>
              </a:ext>
            </a:extLst>
          </p:cNvPr>
          <p:cNvGrpSpPr/>
          <p:nvPr/>
        </p:nvGrpSpPr>
        <p:grpSpPr>
          <a:xfrm>
            <a:off x="13746132" y="8875786"/>
            <a:ext cx="516451" cy="139584"/>
            <a:chOff x="1587964" y="12086895"/>
            <a:chExt cx="951752" cy="257235"/>
          </a:xfrm>
        </p:grpSpPr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554580E7-D29B-F5C0-2135-43A025D7A8EB}"/>
                </a:ext>
              </a:extLst>
            </p:cNvPr>
            <p:cNvSpPr/>
            <p:nvPr/>
          </p:nvSpPr>
          <p:spPr>
            <a:xfrm>
              <a:off x="1587964" y="12086895"/>
              <a:ext cx="240964" cy="257235"/>
            </a:xfrm>
            <a:prstGeom prst="rect">
              <a:avLst/>
            </a:prstGeom>
            <a:solidFill>
              <a:srgbClr val="C8B1E5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0539D9BE-7A79-98B7-0F06-003299E5A904}"/>
                </a:ext>
              </a:extLst>
            </p:cNvPr>
            <p:cNvSpPr/>
            <p:nvPr/>
          </p:nvSpPr>
          <p:spPr>
            <a:xfrm>
              <a:off x="1828927" y="12086895"/>
              <a:ext cx="240964" cy="257235"/>
            </a:xfrm>
            <a:prstGeom prst="rect">
              <a:avLst/>
            </a:prstGeom>
            <a:solidFill>
              <a:srgbClr val="C8B1E5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DE2B35FB-6996-69C9-8A53-D5BF3D7913ED}"/>
                </a:ext>
              </a:extLst>
            </p:cNvPr>
            <p:cNvSpPr/>
            <p:nvPr/>
          </p:nvSpPr>
          <p:spPr>
            <a:xfrm>
              <a:off x="2057789" y="12086895"/>
              <a:ext cx="240964" cy="257235"/>
            </a:xfrm>
            <a:prstGeom prst="rect">
              <a:avLst/>
            </a:prstGeom>
            <a:solidFill>
              <a:srgbClr val="C8B1E5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04005C40-1EC0-AD80-6FCB-40B1C36DC204}"/>
                </a:ext>
              </a:extLst>
            </p:cNvPr>
            <p:cNvSpPr/>
            <p:nvPr/>
          </p:nvSpPr>
          <p:spPr>
            <a:xfrm>
              <a:off x="2298752" y="12086895"/>
              <a:ext cx="240964" cy="257235"/>
            </a:xfrm>
            <a:prstGeom prst="rect">
              <a:avLst/>
            </a:prstGeom>
            <a:solidFill>
              <a:srgbClr val="C8B1E5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7" name="文本框 246">
            <a:extLst>
              <a:ext uri="{FF2B5EF4-FFF2-40B4-BE49-F238E27FC236}">
                <a16:creationId xmlns:a16="http://schemas.microsoft.com/office/drawing/2014/main" id="{81098B2D-1A6E-E58F-3D51-7FFAC96CAB1E}"/>
              </a:ext>
            </a:extLst>
          </p:cNvPr>
          <p:cNvSpPr txBox="1"/>
          <p:nvPr/>
        </p:nvSpPr>
        <p:spPr>
          <a:xfrm>
            <a:off x="14466296" y="8562461"/>
            <a:ext cx="347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+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32A90A54-C7D1-2968-F460-8DB513105CF0}"/>
              </a:ext>
            </a:extLst>
          </p:cNvPr>
          <p:cNvSpPr txBox="1"/>
          <p:nvPr/>
        </p:nvSpPr>
        <p:spPr>
          <a:xfrm>
            <a:off x="15750266" y="8597773"/>
            <a:ext cx="347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</a:rPr>
              <a:t>+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036F4279-1B3D-E037-24CE-52C12182ED45}"/>
              </a:ext>
            </a:extLst>
          </p:cNvPr>
          <p:cNvSpPr txBox="1"/>
          <p:nvPr/>
        </p:nvSpPr>
        <p:spPr>
          <a:xfrm>
            <a:off x="13536280" y="8213868"/>
            <a:ext cx="980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末次签到上下文表示</a:t>
            </a:r>
          </a:p>
        </p:txBody>
      </p: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5F632296-62C4-EDFC-89EC-D3E3C6D81E4D}"/>
              </a:ext>
            </a:extLst>
          </p:cNvPr>
          <p:cNvGrpSpPr/>
          <p:nvPr/>
        </p:nvGrpSpPr>
        <p:grpSpPr>
          <a:xfrm>
            <a:off x="14935937" y="8874484"/>
            <a:ext cx="516451" cy="139584"/>
            <a:chOff x="1587964" y="12086895"/>
            <a:chExt cx="951752" cy="257235"/>
          </a:xfrm>
          <a:solidFill>
            <a:srgbClr val="BAD1F2"/>
          </a:solidFill>
        </p:grpSpPr>
        <p:sp>
          <p:nvSpPr>
            <p:cNvPr id="287" name="矩形 286">
              <a:extLst>
                <a:ext uri="{FF2B5EF4-FFF2-40B4-BE49-F238E27FC236}">
                  <a16:creationId xmlns:a16="http://schemas.microsoft.com/office/drawing/2014/main" id="{0861FDD3-B23A-61CD-BE9C-68FBE2749B9A}"/>
                </a:ext>
              </a:extLst>
            </p:cNvPr>
            <p:cNvSpPr/>
            <p:nvPr/>
          </p:nvSpPr>
          <p:spPr>
            <a:xfrm>
              <a:off x="1587964" y="12086895"/>
              <a:ext cx="240964" cy="257235"/>
            </a:xfrm>
            <a:prstGeom prst="rect">
              <a:avLst/>
            </a:prstGeom>
            <a:grpFill/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矩形 288">
              <a:extLst>
                <a:ext uri="{FF2B5EF4-FFF2-40B4-BE49-F238E27FC236}">
                  <a16:creationId xmlns:a16="http://schemas.microsoft.com/office/drawing/2014/main" id="{68998541-0B9D-E991-0F7B-6220DED5BF09}"/>
                </a:ext>
              </a:extLst>
            </p:cNvPr>
            <p:cNvSpPr/>
            <p:nvPr/>
          </p:nvSpPr>
          <p:spPr>
            <a:xfrm>
              <a:off x="1828927" y="12086895"/>
              <a:ext cx="240964" cy="257235"/>
            </a:xfrm>
            <a:prstGeom prst="rect">
              <a:avLst/>
            </a:prstGeom>
            <a:grpFill/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矩形 290">
              <a:extLst>
                <a:ext uri="{FF2B5EF4-FFF2-40B4-BE49-F238E27FC236}">
                  <a16:creationId xmlns:a16="http://schemas.microsoft.com/office/drawing/2014/main" id="{A908648A-E473-772E-93AD-19BE1B137D9B}"/>
                </a:ext>
              </a:extLst>
            </p:cNvPr>
            <p:cNvSpPr/>
            <p:nvPr/>
          </p:nvSpPr>
          <p:spPr>
            <a:xfrm>
              <a:off x="2057789" y="12086895"/>
              <a:ext cx="240964" cy="257235"/>
            </a:xfrm>
            <a:prstGeom prst="rect">
              <a:avLst/>
            </a:prstGeom>
            <a:grpFill/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id="{549C4754-C070-2982-548B-EF6258393E36}"/>
                </a:ext>
              </a:extLst>
            </p:cNvPr>
            <p:cNvSpPr/>
            <p:nvPr/>
          </p:nvSpPr>
          <p:spPr>
            <a:xfrm>
              <a:off x="2298752" y="12086895"/>
              <a:ext cx="240964" cy="257235"/>
            </a:xfrm>
            <a:prstGeom prst="rect">
              <a:avLst/>
            </a:prstGeom>
            <a:grpFill/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1" name="组合 300">
            <a:extLst>
              <a:ext uri="{FF2B5EF4-FFF2-40B4-BE49-F238E27FC236}">
                <a16:creationId xmlns:a16="http://schemas.microsoft.com/office/drawing/2014/main" id="{DBACE5A7-9485-E7B0-378C-C0A85D3548D7}"/>
              </a:ext>
            </a:extLst>
          </p:cNvPr>
          <p:cNvGrpSpPr/>
          <p:nvPr/>
        </p:nvGrpSpPr>
        <p:grpSpPr>
          <a:xfrm>
            <a:off x="16232265" y="8869690"/>
            <a:ext cx="516451" cy="139584"/>
            <a:chOff x="1587964" y="12086895"/>
            <a:chExt cx="951752" cy="257235"/>
          </a:xfrm>
          <a:solidFill>
            <a:srgbClr val="BAD1F2"/>
          </a:solidFill>
        </p:grpSpPr>
        <p:sp>
          <p:nvSpPr>
            <p:cNvPr id="302" name="矩形 301">
              <a:extLst>
                <a:ext uri="{FF2B5EF4-FFF2-40B4-BE49-F238E27FC236}">
                  <a16:creationId xmlns:a16="http://schemas.microsoft.com/office/drawing/2014/main" id="{3DFC6E56-07FC-4D05-22F4-9088DD956843}"/>
                </a:ext>
              </a:extLst>
            </p:cNvPr>
            <p:cNvSpPr/>
            <p:nvPr/>
          </p:nvSpPr>
          <p:spPr>
            <a:xfrm>
              <a:off x="1587964" y="12086895"/>
              <a:ext cx="240964" cy="257235"/>
            </a:xfrm>
            <a:prstGeom prst="rect">
              <a:avLst/>
            </a:prstGeom>
            <a:grpFill/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矩形 302">
              <a:extLst>
                <a:ext uri="{FF2B5EF4-FFF2-40B4-BE49-F238E27FC236}">
                  <a16:creationId xmlns:a16="http://schemas.microsoft.com/office/drawing/2014/main" id="{C6537EC0-CF4A-7CAE-3712-3F8C4A794AF3}"/>
                </a:ext>
              </a:extLst>
            </p:cNvPr>
            <p:cNvSpPr/>
            <p:nvPr/>
          </p:nvSpPr>
          <p:spPr>
            <a:xfrm>
              <a:off x="1828927" y="12086895"/>
              <a:ext cx="240964" cy="257235"/>
            </a:xfrm>
            <a:prstGeom prst="rect">
              <a:avLst/>
            </a:prstGeom>
            <a:grpFill/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3BE66016-E938-1F82-A555-A01710CFE295}"/>
                </a:ext>
              </a:extLst>
            </p:cNvPr>
            <p:cNvSpPr/>
            <p:nvPr/>
          </p:nvSpPr>
          <p:spPr>
            <a:xfrm>
              <a:off x="2057789" y="12086895"/>
              <a:ext cx="240964" cy="257235"/>
            </a:xfrm>
            <a:prstGeom prst="rect">
              <a:avLst/>
            </a:prstGeom>
            <a:grpFill/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矩形 306">
              <a:extLst>
                <a:ext uri="{FF2B5EF4-FFF2-40B4-BE49-F238E27FC236}">
                  <a16:creationId xmlns:a16="http://schemas.microsoft.com/office/drawing/2014/main" id="{9BE476F1-8F5A-2F32-97D3-6499F539EF65}"/>
                </a:ext>
              </a:extLst>
            </p:cNvPr>
            <p:cNvSpPr/>
            <p:nvPr/>
          </p:nvSpPr>
          <p:spPr>
            <a:xfrm>
              <a:off x="2298752" y="12086895"/>
              <a:ext cx="240964" cy="257235"/>
            </a:xfrm>
            <a:prstGeom prst="rect">
              <a:avLst/>
            </a:prstGeom>
            <a:grpFill/>
            <a:ln>
              <a:solidFill>
                <a:srgbClr val="6679C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7" name="文本框 316">
            <a:extLst>
              <a:ext uri="{FF2B5EF4-FFF2-40B4-BE49-F238E27FC236}">
                <a16:creationId xmlns:a16="http://schemas.microsoft.com/office/drawing/2014/main" id="{15AC27A3-59C5-521C-7118-124755DC1A66}"/>
              </a:ext>
            </a:extLst>
          </p:cNvPr>
          <p:cNvSpPr txBox="1"/>
          <p:nvPr/>
        </p:nvSpPr>
        <p:spPr>
          <a:xfrm>
            <a:off x="14585348" y="8267558"/>
            <a:ext cx="1178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目标时间编码</a:t>
            </a:r>
          </a:p>
        </p:txBody>
      </p:sp>
      <p:sp>
        <p:nvSpPr>
          <p:cNvPr id="339" name="文本框 338">
            <a:extLst>
              <a:ext uri="{FF2B5EF4-FFF2-40B4-BE49-F238E27FC236}">
                <a16:creationId xmlns:a16="http://schemas.microsoft.com/office/drawing/2014/main" id="{2FB639AE-E251-BB6D-B884-20079F7FB31A}"/>
              </a:ext>
            </a:extLst>
          </p:cNvPr>
          <p:cNvSpPr txBox="1"/>
          <p:nvPr/>
        </p:nvSpPr>
        <p:spPr>
          <a:xfrm>
            <a:off x="15913464" y="8258481"/>
            <a:ext cx="11789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签到间隔编码</a:t>
            </a:r>
          </a:p>
        </p:txBody>
      </p:sp>
      <p:pic>
        <p:nvPicPr>
          <p:cNvPr id="340" name="图片 339">
            <a:extLst>
              <a:ext uri="{FF2B5EF4-FFF2-40B4-BE49-F238E27FC236}">
                <a16:creationId xmlns:a16="http://schemas.microsoft.com/office/drawing/2014/main" id="{77CF6D03-49C6-13C1-3A0B-15F46B1F90D5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6340675" y="8539034"/>
            <a:ext cx="299632" cy="272998"/>
          </a:xfrm>
          <a:prstGeom prst="rect">
            <a:avLst/>
          </a:prstGeom>
        </p:spPr>
      </p:pic>
      <p:pic>
        <p:nvPicPr>
          <p:cNvPr id="356" name="图片 355">
            <a:extLst>
              <a:ext uri="{FF2B5EF4-FFF2-40B4-BE49-F238E27FC236}">
                <a16:creationId xmlns:a16="http://schemas.microsoft.com/office/drawing/2014/main" id="{EFADC6A6-9B6D-9375-EEDD-F34484F6C05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7459" y="8424072"/>
            <a:ext cx="653797" cy="502921"/>
          </a:xfrm>
          <a:prstGeom prst="rect">
            <a:avLst/>
          </a:prstGeom>
        </p:spPr>
      </p:pic>
      <p:pic>
        <p:nvPicPr>
          <p:cNvPr id="361" name="图片 360">
            <a:extLst>
              <a:ext uri="{FF2B5EF4-FFF2-40B4-BE49-F238E27FC236}">
                <a16:creationId xmlns:a16="http://schemas.microsoft.com/office/drawing/2014/main" id="{A46434E6-A3C6-623F-2940-0751CF89AAF8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9332" y="8424072"/>
            <a:ext cx="406909" cy="502921"/>
          </a:xfrm>
          <a:prstGeom prst="rect">
            <a:avLst/>
          </a:prstGeom>
        </p:spPr>
      </p:pic>
      <p:sp>
        <p:nvSpPr>
          <p:cNvPr id="381" name="矩形: 圆角 380">
            <a:extLst>
              <a:ext uri="{FF2B5EF4-FFF2-40B4-BE49-F238E27FC236}">
                <a16:creationId xmlns:a16="http://schemas.microsoft.com/office/drawing/2014/main" id="{CA6BEB79-4D42-C6B5-1FDD-9F2E32F61F99}"/>
              </a:ext>
            </a:extLst>
          </p:cNvPr>
          <p:cNvSpPr/>
          <p:nvPr/>
        </p:nvSpPr>
        <p:spPr>
          <a:xfrm>
            <a:off x="13558529" y="9180521"/>
            <a:ext cx="3218268" cy="338015"/>
          </a:xfrm>
          <a:prstGeom prst="roundRect">
            <a:avLst>
              <a:gd name="adj" fmla="val 30580"/>
            </a:avLst>
          </a:prstGeom>
          <a:solidFill>
            <a:srgbClr val="EAF1F9"/>
          </a:solidFill>
          <a:ln w="28575">
            <a:solidFill>
              <a:srgbClr val="627E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AE2BB981-47F4-C370-A04A-9A95F3954B1C}"/>
              </a:ext>
            </a:extLst>
          </p:cNvPr>
          <p:cNvSpPr txBox="1"/>
          <p:nvPr/>
        </p:nvSpPr>
        <p:spPr>
          <a:xfrm>
            <a:off x="14026776" y="9223193"/>
            <a:ext cx="2306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查询投影层（</a:t>
            </a:r>
            <a:r>
              <a:rPr lang="en-US" altLang="zh-CN" sz="1200" b="1" dirty="0">
                <a:latin typeface="+mn-ea"/>
              </a:rPr>
              <a:t>MLP</a:t>
            </a:r>
            <a:r>
              <a:rPr lang="zh-CN" altLang="en-US" sz="1200" b="1" dirty="0">
                <a:latin typeface="+mn-ea"/>
              </a:rPr>
              <a:t>）</a:t>
            </a:r>
          </a:p>
        </p:txBody>
      </p:sp>
      <p:cxnSp>
        <p:nvCxnSpPr>
          <p:cNvPr id="393" name="直接箭头连接符 392">
            <a:extLst>
              <a:ext uri="{FF2B5EF4-FFF2-40B4-BE49-F238E27FC236}">
                <a16:creationId xmlns:a16="http://schemas.microsoft.com/office/drawing/2014/main" id="{13CD3879-34BE-96ED-5CE7-AC5C146E469B}"/>
              </a:ext>
            </a:extLst>
          </p:cNvPr>
          <p:cNvCxnSpPr>
            <a:cxnSpLocks/>
          </p:cNvCxnSpPr>
          <p:nvPr/>
        </p:nvCxnSpPr>
        <p:spPr>
          <a:xfrm rot="5400000">
            <a:off x="13868292" y="9122009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直接箭头连接符 393">
            <a:extLst>
              <a:ext uri="{FF2B5EF4-FFF2-40B4-BE49-F238E27FC236}">
                <a16:creationId xmlns:a16="http://schemas.microsoft.com/office/drawing/2014/main" id="{62792CD7-776F-2D28-70BD-F5CFD955AA13}"/>
              </a:ext>
            </a:extLst>
          </p:cNvPr>
          <p:cNvCxnSpPr>
            <a:cxnSpLocks/>
          </p:cNvCxnSpPr>
          <p:nvPr/>
        </p:nvCxnSpPr>
        <p:spPr>
          <a:xfrm rot="5400000">
            <a:off x="15069204" y="9127363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直接箭头连接符 394">
            <a:extLst>
              <a:ext uri="{FF2B5EF4-FFF2-40B4-BE49-F238E27FC236}">
                <a16:creationId xmlns:a16="http://schemas.microsoft.com/office/drawing/2014/main" id="{46717845-F716-D20F-F89A-1FC1DB844D5D}"/>
              </a:ext>
            </a:extLst>
          </p:cNvPr>
          <p:cNvCxnSpPr>
            <a:cxnSpLocks/>
          </p:cNvCxnSpPr>
          <p:nvPr/>
        </p:nvCxnSpPr>
        <p:spPr>
          <a:xfrm rot="5400000">
            <a:off x="16360641" y="9151005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矩形: 圆角 395">
            <a:extLst>
              <a:ext uri="{FF2B5EF4-FFF2-40B4-BE49-F238E27FC236}">
                <a16:creationId xmlns:a16="http://schemas.microsoft.com/office/drawing/2014/main" id="{42E4FDA7-92A7-3EE1-47B4-1BE0B3FB5C0A}"/>
              </a:ext>
            </a:extLst>
          </p:cNvPr>
          <p:cNvSpPr/>
          <p:nvPr/>
        </p:nvSpPr>
        <p:spPr>
          <a:xfrm>
            <a:off x="13424805" y="10024709"/>
            <a:ext cx="3514851" cy="345143"/>
          </a:xfrm>
          <a:prstGeom prst="roundRect">
            <a:avLst>
              <a:gd name="adj" fmla="val 38346"/>
            </a:avLst>
          </a:prstGeom>
          <a:solidFill>
            <a:srgbClr val="FEFEFE"/>
          </a:solidFill>
          <a:ln w="28575">
            <a:solidFill>
              <a:srgbClr val="7CB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2" name="图片 351">
            <a:extLst>
              <a:ext uri="{FF2B5EF4-FFF2-40B4-BE49-F238E27FC236}">
                <a16:creationId xmlns:a16="http://schemas.microsoft.com/office/drawing/2014/main" id="{402DA09D-CBE4-A2C6-D191-C97F2BE789EC}"/>
              </a:ext>
            </a:extLst>
          </p:cNvPr>
          <p:cNvPicPr>
            <a:picLocks noChangeAspect="1"/>
          </p:cNvPicPr>
          <p:nvPr/>
        </p:nvPicPr>
        <p:blipFill>
          <a:blip r:embed="rId60"/>
          <a:srcRect t="22218" b="20835"/>
          <a:stretch>
            <a:fillRect/>
          </a:stretch>
        </p:blipFill>
        <p:spPr>
          <a:xfrm>
            <a:off x="13928027" y="10070768"/>
            <a:ext cx="2469384" cy="241765"/>
          </a:xfrm>
          <a:prstGeom prst="rect">
            <a:avLst/>
          </a:prstGeom>
        </p:spPr>
      </p:pic>
      <p:cxnSp>
        <p:nvCxnSpPr>
          <p:cNvPr id="397" name="直接箭头连接符 396">
            <a:extLst>
              <a:ext uri="{FF2B5EF4-FFF2-40B4-BE49-F238E27FC236}">
                <a16:creationId xmlns:a16="http://schemas.microsoft.com/office/drawing/2014/main" id="{7B8B685F-F5C9-981A-D30D-F6F33FC92CDA}"/>
              </a:ext>
            </a:extLst>
          </p:cNvPr>
          <p:cNvCxnSpPr>
            <a:cxnSpLocks/>
          </p:cNvCxnSpPr>
          <p:nvPr/>
        </p:nvCxnSpPr>
        <p:spPr>
          <a:xfrm>
            <a:off x="15188894" y="9500432"/>
            <a:ext cx="0" cy="1871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文本框 398">
            <a:extLst>
              <a:ext uri="{FF2B5EF4-FFF2-40B4-BE49-F238E27FC236}">
                <a16:creationId xmlns:a16="http://schemas.microsoft.com/office/drawing/2014/main" id="{C14E1C4E-C2B3-9F3E-DD6F-62D3618B1ACB}"/>
              </a:ext>
            </a:extLst>
          </p:cNvPr>
          <p:cNvSpPr txBox="1"/>
          <p:nvPr/>
        </p:nvSpPr>
        <p:spPr>
          <a:xfrm>
            <a:off x="13998378" y="9722978"/>
            <a:ext cx="1457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用户动态查询表示</a:t>
            </a:r>
          </a:p>
        </p:txBody>
      </p:sp>
      <p:grpSp>
        <p:nvGrpSpPr>
          <p:cNvPr id="400" name="组合 399">
            <a:extLst>
              <a:ext uri="{FF2B5EF4-FFF2-40B4-BE49-F238E27FC236}">
                <a16:creationId xmlns:a16="http://schemas.microsoft.com/office/drawing/2014/main" id="{CE056F63-D479-422A-A30C-AEB6372ABB79}"/>
              </a:ext>
            </a:extLst>
          </p:cNvPr>
          <p:cNvGrpSpPr/>
          <p:nvPr/>
        </p:nvGrpSpPr>
        <p:grpSpPr>
          <a:xfrm>
            <a:off x="15708432" y="9801584"/>
            <a:ext cx="516451" cy="139584"/>
            <a:chOff x="1587964" y="12086895"/>
            <a:chExt cx="951752" cy="257235"/>
          </a:xfrm>
          <a:solidFill>
            <a:srgbClr val="0070C0"/>
          </a:solidFill>
        </p:grpSpPr>
        <p:sp>
          <p:nvSpPr>
            <p:cNvPr id="401" name="矩形 400">
              <a:extLst>
                <a:ext uri="{FF2B5EF4-FFF2-40B4-BE49-F238E27FC236}">
                  <a16:creationId xmlns:a16="http://schemas.microsoft.com/office/drawing/2014/main" id="{1E1E1D40-606C-2FEC-3376-04AE087F7DFC}"/>
                </a:ext>
              </a:extLst>
            </p:cNvPr>
            <p:cNvSpPr/>
            <p:nvPr/>
          </p:nvSpPr>
          <p:spPr>
            <a:xfrm>
              <a:off x="1587964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2" name="矩形 401">
              <a:extLst>
                <a:ext uri="{FF2B5EF4-FFF2-40B4-BE49-F238E27FC236}">
                  <a16:creationId xmlns:a16="http://schemas.microsoft.com/office/drawing/2014/main" id="{6AE29C7E-C386-1643-BB33-2952D9C3C0E1}"/>
                </a:ext>
              </a:extLst>
            </p:cNvPr>
            <p:cNvSpPr/>
            <p:nvPr/>
          </p:nvSpPr>
          <p:spPr>
            <a:xfrm>
              <a:off x="1828927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3" name="矩形 402">
              <a:extLst>
                <a:ext uri="{FF2B5EF4-FFF2-40B4-BE49-F238E27FC236}">
                  <a16:creationId xmlns:a16="http://schemas.microsoft.com/office/drawing/2014/main" id="{5D9076CE-9EA8-5F3E-020A-A75B586CF242}"/>
                </a:ext>
              </a:extLst>
            </p:cNvPr>
            <p:cNvSpPr/>
            <p:nvPr/>
          </p:nvSpPr>
          <p:spPr>
            <a:xfrm>
              <a:off x="2057789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4" name="矩形 403">
              <a:extLst>
                <a:ext uri="{FF2B5EF4-FFF2-40B4-BE49-F238E27FC236}">
                  <a16:creationId xmlns:a16="http://schemas.microsoft.com/office/drawing/2014/main" id="{1BC06440-A42C-D3D8-8DE3-F7BD243ABC6D}"/>
                </a:ext>
              </a:extLst>
            </p:cNvPr>
            <p:cNvSpPr/>
            <p:nvPr/>
          </p:nvSpPr>
          <p:spPr>
            <a:xfrm>
              <a:off x="2298752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05" name="图片 404">
            <a:extLst>
              <a:ext uri="{FF2B5EF4-FFF2-40B4-BE49-F238E27FC236}">
                <a16:creationId xmlns:a16="http://schemas.microsoft.com/office/drawing/2014/main" id="{73C97108-CA49-26B9-8992-C8B0733A85B4}"/>
              </a:ext>
            </a:extLst>
          </p:cNvPr>
          <p:cNvPicPr>
            <a:picLocks noChangeAspect="1"/>
          </p:cNvPicPr>
          <p:nvPr/>
        </p:nvPicPr>
        <p:blipFill>
          <a:blip r:embed="rId61"/>
          <a:srcRect t="24873"/>
          <a:stretch>
            <a:fillRect/>
          </a:stretch>
        </p:blipFill>
        <p:spPr>
          <a:xfrm>
            <a:off x="15342695" y="9748519"/>
            <a:ext cx="326565" cy="250789"/>
          </a:xfrm>
          <a:prstGeom prst="rect">
            <a:avLst/>
          </a:prstGeom>
        </p:spPr>
      </p:pic>
      <p:pic>
        <p:nvPicPr>
          <p:cNvPr id="407" name="图片 406">
            <a:extLst>
              <a:ext uri="{FF2B5EF4-FFF2-40B4-BE49-F238E27FC236}">
                <a16:creationId xmlns:a16="http://schemas.microsoft.com/office/drawing/2014/main" id="{C7463A3D-27B8-2026-6F6D-442C6746FB6E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12766"/>
          <a:stretch>
            <a:fillRect/>
          </a:stretch>
        </p:blipFill>
        <p:spPr>
          <a:xfrm>
            <a:off x="17656475" y="2712865"/>
            <a:ext cx="380065" cy="479255"/>
          </a:xfrm>
          <a:prstGeom prst="rect">
            <a:avLst/>
          </a:prstGeom>
        </p:spPr>
      </p:pic>
      <p:sp>
        <p:nvSpPr>
          <p:cNvPr id="409" name="文本框 408">
            <a:extLst>
              <a:ext uri="{FF2B5EF4-FFF2-40B4-BE49-F238E27FC236}">
                <a16:creationId xmlns:a16="http://schemas.microsoft.com/office/drawing/2014/main" id="{D00FD702-CF55-0E15-6661-BE3A14EBD7D9}"/>
              </a:ext>
            </a:extLst>
          </p:cNvPr>
          <p:cNvSpPr txBox="1"/>
          <p:nvPr/>
        </p:nvSpPr>
        <p:spPr>
          <a:xfrm>
            <a:off x="17972014" y="2765690"/>
            <a:ext cx="3401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2E38C7"/>
                </a:solidFill>
                <a:latin typeface="+mn-ea"/>
              </a:rPr>
              <a:t>候选重排序与下一个</a:t>
            </a:r>
            <a:r>
              <a:rPr lang="en-US" altLang="zh-CN" sz="2000" b="1" dirty="0">
                <a:solidFill>
                  <a:srgbClr val="2E38C7"/>
                </a:solidFill>
                <a:latin typeface="+mn-ea"/>
              </a:rPr>
              <a:t>POI</a:t>
            </a:r>
            <a:r>
              <a:rPr lang="zh-CN" altLang="en-US" sz="2000" b="1" dirty="0">
                <a:solidFill>
                  <a:srgbClr val="2E38C7"/>
                </a:solidFill>
                <a:latin typeface="+mn-ea"/>
              </a:rPr>
              <a:t>推荐</a:t>
            </a:r>
          </a:p>
        </p:txBody>
      </p:sp>
      <p:sp>
        <p:nvSpPr>
          <p:cNvPr id="410" name="矩形: 圆角 409">
            <a:extLst>
              <a:ext uri="{FF2B5EF4-FFF2-40B4-BE49-F238E27FC236}">
                <a16:creationId xmlns:a16="http://schemas.microsoft.com/office/drawing/2014/main" id="{7CF1B456-5ECE-9FFA-0A38-F3BEFBD2FC4F}"/>
              </a:ext>
            </a:extLst>
          </p:cNvPr>
          <p:cNvSpPr/>
          <p:nvPr/>
        </p:nvSpPr>
        <p:spPr>
          <a:xfrm>
            <a:off x="17723908" y="3267592"/>
            <a:ext cx="3429212" cy="862448"/>
          </a:xfrm>
          <a:prstGeom prst="roundRect">
            <a:avLst>
              <a:gd name="adj" fmla="val 6689"/>
            </a:avLst>
          </a:prstGeom>
          <a:solidFill>
            <a:srgbClr val="FEFEFE"/>
          </a:solidFill>
          <a:ln w="28575">
            <a:solidFill>
              <a:srgbClr val="9AB0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文本框 411">
            <a:extLst>
              <a:ext uri="{FF2B5EF4-FFF2-40B4-BE49-F238E27FC236}">
                <a16:creationId xmlns:a16="http://schemas.microsoft.com/office/drawing/2014/main" id="{16B149A4-1E47-5376-EE51-CBCA71EC57A2}"/>
              </a:ext>
            </a:extLst>
          </p:cNvPr>
          <p:cNvSpPr txBox="1"/>
          <p:nvPr/>
        </p:nvSpPr>
        <p:spPr>
          <a:xfrm>
            <a:off x="18254843" y="3296198"/>
            <a:ext cx="1104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38C7"/>
                </a:solidFill>
                <a:latin typeface="+mn-ea"/>
              </a:rPr>
              <a:t>动态候选池</a:t>
            </a:r>
          </a:p>
        </p:txBody>
      </p:sp>
      <p:sp>
        <p:nvSpPr>
          <p:cNvPr id="413" name="文本框 412">
            <a:extLst>
              <a:ext uri="{FF2B5EF4-FFF2-40B4-BE49-F238E27FC236}">
                <a16:creationId xmlns:a16="http://schemas.microsoft.com/office/drawing/2014/main" id="{DB9D506D-7E4F-9863-B3E8-AD074123D2F0}"/>
              </a:ext>
            </a:extLst>
          </p:cNvPr>
          <p:cNvSpPr txBox="1"/>
          <p:nvPr/>
        </p:nvSpPr>
        <p:spPr>
          <a:xfrm>
            <a:off x="19573738" y="3296198"/>
            <a:ext cx="1104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38C7"/>
                </a:solidFill>
                <a:latin typeface="+mn-ea"/>
              </a:rPr>
              <a:t>用户动态</a:t>
            </a:r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0095022A-B36C-C516-ED8C-31C23991A57A}"/>
              </a:ext>
            </a:extLst>
          </p:cNvPr>
          <p:cNvSpPr txBox="1"/>
          <p:nvPr/>
        </p:nvSpPr>
        <p:spPr>
          <a:xfrm>
            <a:off x="19457145" y="3511085"/>
            <a:ext cx="1104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38C7"/>
                </a:solidFill>
                <a:latin typeface="+mn-ea"/>
              </a:rPr>
              <a:t>查询表示</a:t>
            </a:r>
          </a:p>
        </p:txBody>
      </p:sp>
      <p:pic>
        <p:nvPicPr>
          <p:cNvPr id="415" name="图片 414">
            <a:extLst>
              <a:ext uri="{FF2B5EF4-FFF2-40B4-BE49-F238E27FC236}">
                <a16:creationId xmlns:a16="http://schemas.microsoft.com/office/drawing/2014/main" id="{72CDE02D-2435-7137-4B05-06D836D1792D}"/>
              </a:ext>
            </a:extLst>
          </p:cNvPr>
          <p:cNvPicPr>
            <a:picLocks noChangeAspect="1"/>
          </p:cNvPicPr>
          <p:nvPr/>
        </p:nvPicPr>
        <p:blipFill>
          <a:blip r:embed="rId61"/>
          <a:srcRect t="24873"/>
          <a:stretch>
            <a:fillRect/>
          </a:stretch>
        </p:blipFill>
        <p:spPr>
          <a:xfrm>
            <a:off x="20318365" y="3543464"/>
            <a:ext cx="276369" cy="212241"/>
          </a:xfrm>
          <a:prstGeom prst="rect">
            <a:avLst/>
          </a:prstGeom>
        </p:spPr>
      </p:pic>
      <p:grpSp>
        <p:nvGrpSpPr>
          <p:cNvPr id="416" name="组合 415">
            <a:extLst>
              <a:ext uri="{FF2B5EF4-FFF2-40B4-BE49-F238E27FC236}">
                <a16:creationId xmlns:a16="http://schemas.microsoft.com/office/drawing/2014/main" id="{DB92E185-C41F-EBDC-EF21-937AA8F80BF3}"/>
              </a:ext>
            </a:extLst>
          </p:cNvPr>
          <p:cNvGrpSpPr/>
          <p:nvPr/>
        </p:nvGrpSpPr>
        <p:grpSpPr>
          <a:xfrm>
            <a:off x="19685498" y="3818862"/>
            <a:ext cx="893531" cy="204498"/>
            <a:chOff x="1587964" y="12086895"/>
            <a:chExt cx="951752" cy="257235"/>
          </a:xfrm>
          <a:solidFill>
            <a:srgbClr val="0070C0"/>
          </a:solidFill>
        </p:grpSpPr>
        <p:sp>
          <p:nvSpPr>
            <p:cNvPr id="417" name="矩形 416">
              <a:extLst>
                <a:ext uri="{FF2B5EF4-FFF2-40B4-BE49-F238E27FC236}">
                  <a16:creationId xmlns:a16="http://schemas.microsoft.com/office/drawing/2014/main" id="{6A818C49-7A73-5DD0-C31D-47206F8BB026}"/>
                </a:ext>
              </a:extLst>
            </p:cNvPr>
            <p:cNvSpPr/>
            <p:nvPr/>
          </p:nvSpPr>
          <p:spPr>
            <a:xfrm>
              <a:off x="1587964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8" name="矩形 417">
              <a:extLst>
                <a:ext uri="{FF2B5EF4-FFF2-40B4-BE49-F238E27FC236}">
                  <a16:creationId xmlns:a16="http://schemas.microsoft.com/office/drawing/2014/main" id="{A9C0F49E-F038-10C4-2091-A2B15CDA0E51}"/>
                </a:ext>
              </a:extLst>
            </p:cNvPr>
            <p:cNvSpPr/>
            <p:nvPr/>
          </p:nvSpPr>
          <p:spPr>
            <a:xfrm>
              <a:off x="1828927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9" name="矩形 418">
              <a:extLst>
                <a:ext uri="{FF2B5EF4-FFF2-40B4-BE49-F238E27FC236}">
                  <a16:creationId xmlns:a16="http://schemas.microsoft.com/office/drawing/2014/main" id="{9D951DA4-0ED7-8C3D-0091-65F68DA546FA}"/>
                </a:ext>
              </a:extLst>
            </p:cNvPr>
            <p:cNvSpPr/>
            <p:nvPr/>
          </p:nvSpPr>
          <p:spPr>
            <a:xfrm>
              <a:off x="2057789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0" name="矩形 419">
              <a:extLst>
                <a:ext uri="{FF2B5EF4-FFF2-40B4-BE49-F238E27FC236}">
                  <a16:creationId xmlns:a16="http://schemas.microsoft.com/office/drawing/2014/main" id="{08911A80-726A-1424-3CD7-A2182721354A}"/>
                </a:ext>
              </a:extLst>
            </p:cNvPr>
            <p:cNvSpPr/>
            <p:nvPr/>
          </p:nvSpPr>
          <p:spPr>
            <a:xfrm>
              <a:off x="2298752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23" name="图片 422">
            <a:extLst>
              <a:ext uri="{FF2B5EF4-FFF2-40B4-BE49-F238E27FC236}">
                <a16:creationId xmlns:a16="http://schemas.microsoft.com/office/drawing/2014/main" id="{29505567-8B89-E60E-6441-ED36106C2095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6362" y="3512550"/>
            <a:ext cx="291602" cy="289109"/>
          </a:xfrm>
          <a:prstGeom prst="rect">
            <a:avLst/>
          </a:prstGeom>
        </p:spPr>
      </p:pic>
      <p:pic>
        <p:nvPicPr>
          <p:cNvPr id="425" name="图片 424">
            <a:extLst>
              <a:ext uri="{FF2B5EF4-FFF2-40B4-BE49-F238E27FC236}">
                <a16:creationId xmlns:a16="http://schemas.microsoft.com/office/drawing/2014/main" id="{050319AE-6DFF-76B5-BBEF-7027698FE3A7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8227125" y="3769944"/>
            <a:ext cx="1230020" cy="297046"/>
          </a:xfrm>
          <a:prstGeom prst="rect">
            <a:avLst/>
          </a:prstGeom>
        </p:spPr>
      </p:pic>
      <p:sp>
        <p:nvSpPr>
          <p:cNvPr id="426" name="矩形: 圆角 425">
            <a:extLst>
              <a:ext uri="{FF2B5EF4-FFF2-40B4-BE49-F238E27FC236}">
                <a16:creationId xmlns:a16="http://schemas.microsoft.com/office/drawing/2014/main" id="{4194EAE6-DAA3-C794-7AA1-AACA35FC9312}"/>
              </a:ext>
            </a:extLst>
          </p:cNvPr>
          <p:cNvSpPr/>
          <p:nvPr/>
        </p:nvSpPr>
        <p:spPr>
          <a:xfrm>
            <a:off x="17723907" y="4348342"/>
            <a:ext cx="1655650" cy="2975984"/>
          </a:xfrm>
          <a:prstGeom prst="roundRect">
            <a:avLst>
              <a:gd name="adj" fmla="val 6689"/>
            </a:avLst>
          </a:prstGeom>
          <a:solidFill>
            <a:srgbClr val="FEFEFE"/>
          </a:solidFill>
          <a:ln w="28575">
            <a:solidFill>
              <a:srgbClr val="9AB0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: 圆角 426">
            <a:extLst>
              <a:ext uri="{FF2B5EF4-FFF2-40B4-BE49-F238E27FC236}">
                <a16:creationId xmlns:a16="http://schemas.microsoft.com/office/drawing/2014/main" id="{5DEE5692-4784-F111-2BD2-7BC2921054FA}"/>
              </a:ext>
            </a:extLst>
          </p:cNvPr>
          <p:cNvSpPr/>
          <p:nvPr/>
        </p:nvSpPr>
        <p:spPr>
          <a:xfrm>
            <a:off x="19560236" y="4348342"/>
            <a:ext cx="1655650" cy="2975984"/>
          </a:xfrm>
          <a:prstGeom prst="roundRect">
            <a:avLst>
              <a:gd name="adj" fmla="val 6689"/>
            </a:avLst>
          </a:prstGeom>
          <a:solidFill>
            <a:srgbClr val="FEFEFE"/>
          </a:solidFill>
          <a:ln w="28575">
            <a:solidFill>
              <a:srgbClr val="9AB0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文本框 427">
            <a:extLst>
              <a:ext uri="{FF2B5EF4-FFF2-40B4-BE49-F238E27FC236}">
                <a16:creationId xmlns:a16="http://schemas.microsoft.com/office/drawing/2014/main" id="{8E6AA8AB-38D8-5AFC-E8D7-FC8DC21EB559}"/>
              </a:ext>
            </a:extLst>
          </p:cNvPr>
          <p:cNvSpPr txBox="1"/>
          <p:nvPr/>
        </p:nvSpPr>
        <p:spPr>
          <a:xfrm>
            <a:off x="17922848" y="4376961"/>
            <a:ext cx="1104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38C7"/>
                </a:solidFill>
                <a:latin typeface="+mn-ea"/>
              </a:rPr>
              <a:t>神经匹配</a:t>
            </a:r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B32DA760-923A-CD94-B71B-D1E65FBA7D2C}"/>
              </a:ext>
            </a:extLst>
          </p:cNvPr>
          <p:cNvSpPr txBox="1"/>
          <p:nvPr/>
        </p:nvSpPr>
        <p:spPr>
          <a:xfrm>
            <a:off x="19822160" y="4376961"/>
            <a:ext cx="1104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38C7"/>
                </a:solidFill>
                <a:latin typeface="+mn-ea"/>
              </a:rPr>
              <a:t>候选上下文特征打分</a:t>
            </a:r>
          </a:p>
        </p:txBody>
      </p:sp>
      <p:grpSp>
        <p:nvGrpSpPr>
          <p:cNvPr id="430" name="组合 429">
            <a:extLst>
              <a:ext uri="{FF2B5EF4-FFF2-40B4-BE49-F238E27FC236}">
                <a16:creationId xmlns:a16="http://schemas.microsoft.com/office/drawing/2014/main" id="{F6239031-8B3B-E5F8-2D46-68DD47645D41}"/>
              </a:ext>
            </a:extLst>
          </p:cNvPr>
          <p:cNvGrpSpPr/>
          <p:nvPr/>
        </p:nvGrpSpPr>
        <p:grpSpPr>
          <a:xfrm rot="5400000">
            <a:off x="17694860" y="5476485"/>
            <a:ext cx="884357" cy="213532"/>
            <a:chOff x="1587964" y="12086895"/>
            <a:chExt cx="951752" cy="257235"/>
          </a:xfrm>
          <a:solidFill>
            <a:srgbClr val="0070C0"/>
          </a:solidFill>
        </p:grpSpPr>
        <p:sp>
          <p:nvSpPr>
            <p:cNvPr id="431" name="矩形 430">
              <a:extLst>
                <a:ext uri="{FF2B5EF4-FFF2-40B4-BE49-F238E27FC236}">
                  <a16:creationId xmlns:a16="http://schemas.microsoft.com/office/drawing/2014/main" id="{5870D0C6-1834-8516-0FBC-0A995CE2470F}"/>
                </a:ext>
              </a:extLst>
            </p:cNvPr>
            <p:cNvSpPr/>
            <p:nvPr/>
          </p:nvSpPr>
          <p:spPr>
            <a:xfrm>
              <a:off x="1587964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2" name="矩形 431">
              <a:extLst>
                <a:ext uri="{FF2B5EF4-FFF2-40B4-BE49-F238E27FC236}">
                  <a16:creationId xmlns:a16="http://schemas.microsoft.com/office/drawing/2014/main" id="{37A34C0F-A23C-EDAF-4525-793D3D6498FD}"/>
                </a:ext>
              </a:extLst>
            </p:cNvPr>
            <p:cNvSpPr/>
            <p:nvPr/>
          </p:nvSpPr>
          <p:spPr>
            <a:xfrm>
              <a:off x="1828927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3" name="矩形 432">
              <a:extLst>
                <a:ext uri="{FF2B5EF4-FFF2-40B4-BE49-F238E27FC236}">
                  <a16:creationId xmlns:a16="http://schemas.microsoft.com/office/drawing/2014/main" id="{D299BD99-1743-0D16-AFBD-7FB8DED0E488}"/>
                </a:ext>
              </a:extLst>
            </p:cNvPr>
            <p:cNvSpPr/>
            <p:nvPr/>
          </p:nvSpPr>
          <p:spPr>
            <a:xfrm>
              <a:off x="2057789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4" name="矩形 433">
              <a:extLst>
                <a:ext uri="{FF2B5EF4-FFF2-40B4-BE49-F238E27FC236}">
                  <a16:creationId xmlns:a16="http://schemas.microsoft.com/office/drawing/2014/main" id="{939E1716-87CC-93BD-A400-2F2268A5C551}"/>
                </a:ext>
              </a:extLst>
            </p:cNvPr>
            <p:cNvSpPr/>
            <p:nvPr/>
          </p:nvSpPr>
          <p:spPr>
            <a:xfrm>
              <a:off x="2298752" y="12086895"/>
              <a:ext cx="240964" cy="257235"/>
            </a:xfrm>
            <a:prstGeom prst="rect">
              <a:avLst/>
            </a:prstGeom>
            <a:grp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2" name="组合 441">
            <a:extLst>
              <a:ext uri="{FF2B5EF4-FFF2-40B4-BE49-F238E27FC236}">
                <a16:creationId xmlns:a16="http://schemas.microsoft.com/office/drawing/2014/main" id="{178D2801-70BF-4901-69C7-7FB705EBA99C}"/>
              </a:ext>
            </a:extLst>
          </p:cNvPr>
          <p:cNvGrpSpPr/>
          <p:nvPr/>
        </p:nvGrpSpPr>
        <p:grpSpPr>
          <a:xfrm rot="5400000">
            <a:off x="18427511" y="5473435"/>
            <a:ext cx="897977" cy="233249"/>
            <a:chOff x="17889267" y="5419977"/>
            <a:chExt cx="863005" cy="233249"/>
          </a:xfrm>
        </p:grpSpPr>
        <p:sp>
          <p:nvSpPr>
            <p:cNvPr id="436" name="矩形 435">
              <a:extLst>
                <a:ext uri="{FF2B5EF4-FFF2-40B4-BE49-F238E27FC236}">
                  <a16:creationId xmlns:a16="http://schemas.microsoft.com/office/drawing/2014/main" id="{199717F2-A0AF-3A95-8533-2158E518B49D}"/>
                </a:ext>
              </a:extLst>
            </p:cNvPr>
            <p:cNvSpPr/>
            <p:nvPr/>
          </p:nvSpPr>
          <p:spPr>
            <a:xfrm>
              <a:off x="17889267" y="5419977"/>
              <a:ext cx="218495" cy="233249"/>
            </a:xfrm>
            <a:prstGeom prst="rect">
              <a:avLst/>
            </a:prstGeom>
            <a:solidFill>
              <a:srgbClr val="F6E1A0"/>
            </a:solidFill>
            <a:ln>
              <a:solidFill>
                <a:srgbClr val="C1AC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7" name="矩形 436">
              <a:extLst>
                <a:ext uri="{FF2B5EF4-FFF2-40B4-BE49-F238E27FC236}">
                  <a16:creationId xmlns:a16="http://schemas.microsoft.com/office/drawing/2014/main" id="{76DE8D36-966C-F7E2-73E2-80BEEE38CC6A}"/>
                </a:ext>
              </a:extLst>
            </p:cNvPr>
            <p:cNvSpPr/>
            <p:nvPr/>
          </p:nvSpPr>
          <p:spPr>
            <a:xfrm>
              <a:off x="18107761" y="5419977"/>
              <a:ext cx="218495" cy="233249"/>
            </a:xfrm>
            <a:prstGeom prst="rect">
              <a:avLst/>
            </a:prstGeom>
            <a:solidFill>
              <a:srgbClr val="F6E1A0"/>
            </a:solidFill>
            <a:ln>
              <a:solidFill>
                <a:srgbClr val="C1AC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8" name="矩形 437">
              <a:extLst>
                <a:ext uri="{FF2B5EF4-FFF2-40B4-BE49-F238E27FC236}">
                  <a16:creationId xmlns:a16="http://schemas.microsoft.com/office/drawing/2014/main" id="{8D25E4F0-B487-711D-C30D-21EB58E06A83}"/>
                </a:ext>
              </a:extLst>
            </p:cNvPr>
            <p:cNvSpPr/>
            <p:nvPr/>
          </p:nvSpPr>
          <p:spPr>
            <a:xfrm>
              <a:off x="18315283" y="5419977"/>
              <a:ext cx="218495" cy="233249"/>
            </a:xfrm>
            <a:prstGeom prst="rect">
              <a:avLst/>
            </a:prstGeom>
            <a:solidFill>
              <a:srgbClr val="F6E1A0"/>
            </a:solidFill>
            <a:ln>
              <a:solidFill>
                <a:srgbClr val="C1AC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9" name="矩形 438">
              <a:extLst>
                <a:ext uri="{FF2B5EF4-FFF2-40B4-BE49-F238E27FC236}">
                  <a16:creationId xmlns:a16="http://schemas.microsoft.com/office/drawing/2014/main" id="{E9C6792A-9954-6D8E-182C-6C900868A78A}"/>
                </a:ext>
              </a:extLst>
            </p:cNvPr>
            <p:cNvSpPr/>
            <p:nvPr/>
          </p:nvSpPr>
          <p:spPr>
            <a:xfrm>
              <a:off x="18533777" y="5419977"/>
              <a:ext cx="218495" cy="233249"/>
            </a:xfrm>
            <a:prstGeom prst="rect">
              <a:avLst/>
            </a:prstGeom>
            <a:solidFill>
              <a:srgbClr val="F6E1A0"/>
            </a:solidFill>
            <a:ln>
              <a:solidFill>
                <a:srgbClr val="C1AC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3" name="文本框 442">
            <a:extLst>
              <a:ext uri="{FF2B5EF4-FFF2-40B4-BE49-F238E27FC236}">
                <a16:creationId xmlns:a16="http://schemas.microsoft.com/office/drawing/2014/main" id="{3E366724-2849-7B7F-A30B-A4F262A74C18}"/>
              </a:ext>
            </a:extLst>
          </p:cNvPr>
          <p:cNvSpPr txBox="1"/>
          <p:nvPr/>
        </p:nvSpPr>
        <p:spPr>
          <a:xfrm>
            <a:off x="18355665" y="5158829"/>
            <a:ext cx="34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+mn-ea"/>
              </a:rPr>
              <a:t>.</a:t>
            </a:r>
            <a:endParaRPr lang="zh-CN" altLang="en-US" sz="3600" b="1" dirty="0">
              <a:latin typeface="+mn-ea"/>
            </a:endParaRPr>
          </a:p>
        </p:txBody>
      </p:sp>
      <p:sp>
        <p:nvSpPr>
          <p:cNvPr id="444" name="右大括号 443">
            <a:extLst>
              <a:ext uri="{FF2B5EF4-FFF2-40B4-BE49-F238E27FC236}">
                <a16:creationId xmlns:a16="http://schemas.microsoft.com/office/drawing/2014/main" id="{9D495D9C-3BEA-5860-5492-6F0961BBCCA4}"/>
              </a:ext>
            </a:extLst>
          </p:cNvPr>
          <p:cNvSpPr/>
          <p:nvPr/>
        </p:nvSpPr>
        <p:spPr>
          <a:xfrm rot="5400000">
            <a:off x="18334485" y="5831629"/>
            <a:ext cx="344287" cy="78194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文本框 444">
            <a:extLst>
              <a:ext uri="{FF2B5EF4-FFF2-40B4-BE49-F238E27FC236}">
                <a16:creationId xmlns:a16="http://schemas.microsoft.com/office/drawing/2014/main" id="{E5E50987-A44A-FED1-56AD-E81EB67D04A8}"/>
              </a:ext>
            </a:extLst>
          </p:cNvPr>
          <p:cNvSpPr txBox="1"/>
          <p:nvPr/>
        </p:nvSpPr>
        <p:spPr>
          <a:xfrm>
            <a:off x="18013505" y="6442994"/>
            <a:ext cx="1034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匹配得分</a:t>
            </a:r>
          </a:p>
        </p:txBody>
      </p:sp>
      <p:pic>
        <p:nvPicPr>
          <p:cNvPr id="446" name="图片 445">
            <a:extLst>
              <a:ext uri="{FF2B5EF4-FFF2-40B4-BE49-F238E27FC236}">
                <a16:creationId xmlns:a16="http://schemas.microsoft.com/office/drawing/2014/main" id="{44CD1718-88CF-592A-E02C-F6F21077B5A5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7964455" y="4758051"/>
            <a:ext cx="339711" cy="334564"/>
          </a:xfrm>
          <a:prstGeom prst="rect">
            <a:avLst/>
          </a:prstGeom>
        </p:spPr>
      </p:pic>
      <p:pic>
        <p:nvPicPr>
          <p:cNvPr id="447" name="图片 446">
            <a:extLst>
              <a:ext uri="{FF2B5EF4-FFF2-40B4-BE49-F238E27FC236}">
                <a16:creationId xmlns:a16="http://schemas.microsoft.com/office/drawing/2014/main" id="{3E6F96A0-F4A0-E8FB-322B-9A03071E8C69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8742182" y="4776334"/>
            <a:ext cx="253510" cy="279291"/>
          </a:xfrm>
          <a:prstGeom prst="rect">
            <a:avLst/>
          </a:prstGeom>
        </p:spPr>
      </p:pic>
      <p:pic>
        <p:nvPicPr>
          <p:cNvPr id="448" name="图片 447">
            <a:extLst>
              <a:ext uri="{FF2B5EF4-FFF2-40B4-BE49-F238E27FC236}">
                <a16:creationId xmlns:a16="http://schemas.microsoft.com/office/drawing/2014/main" id="{C8CA8FB2-1741-67AD-B07B-909F8C56F346}"/>
              </a:ext>
            </a:extLst>
          </p:cNvPr>
          <p:cNvPicPr>
            <a:picLocks noChangeAspect="1"/>
          </p:cNvPicPr>
          <p:nvPr/>
        </p:nvPicPr>
        <p:blipFill>
          <a:blip r:embed="rId66"/>
          <a:srcRect t="18735" b="13983"/>
          <a:stretch>
            <a:fillRect/>
          </a:stretch>
        </p:blipFill>
        <p:spPr>
          <a:xfrm>
            <a:off x="18010971" y="6686647"/>
            <a:ext cx="987378" cy="322390"/>
          </a:xfrm>
          <a:prstGeom prst="rect">
            <a:avLst/>
          </a:prstGeom>
        </p:spPr>
      </p:pic>
      <p:sp>
        <p:nvSpPr>
          <p:cNvPr id="449" name="矩形: 圆角 448">
            <a:extLst>
              <a:ext uri="{FF2B5EF4-FFF2-40B4-BE49-F238E27FC236}">
                <a16:creationId xmlns:a16="http://schemas.microsoft.com/office/drawing/2014/main" id="{FCD610A5-1D3A-1609-4238-E4AE68CA32F5}"/>
              </a:ext>
            </a:extLst>
          </p:cNvPr>
          <p:cNvSpPr/>
          <p:nvPr/>
        </p:nvSpPr>
        <p:spPr>
          <a:xfrm>
            <a:off x="19719657" y="5038431"/>
            <a:ext cx="1234300" cy="1144111"/>
          </a:xfrm>
          <a:prstGeom prst="roundRect">
            <a:avLst>
              <a:gd name="adj" fmla="val 6689"/>
            </a:avLst>
          </a:prstGeom>
          <a:solidFill>
            <a:srgbClr val="FEFEFE"/>
          </a:solidFill>
          <a:ln w="19050">
            <a:solidFill>
              <a:srgbClr val="9AB0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0" name="文本框 449">
            <a:extLst>
              <a:ext uri="{FF2B5EF4-FFF2-40B4-BE49-F238E27FC236}">
                <a16:creationId xmlns:a16="http://schemas.microsoft.com/office/drawing/2014/main" id="{4E4F421F-3F65-30B1-383A-D5A157590A6C}"/>
              </a:ext>
            </a:extLst>
          </p:cNvPr>
          <p:cNvSpPr txBox="1"/>
          <p:nvPr/>
        </p:nvSpPr>
        <p:spPr>
          <a:xfrm>
            <a:off x="19835019" y="5142028"/>
            <a:ext cx="10341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相对距离</a:t>
            </a:r>
            <a:endParaRPr lang="en-US" altLang="zh-CN" sz="1200" b="1" dirty="0">
              <a:latin typeface="+mn-ea"/>
            </a:endParaRPr>
          </a:p>
          <a:p>
            <a:pPr algn="ctr"/>
            <a:r>
              <a:rPr lang="zh-CN" altLang="en-US" sz="1200" b="1" dirty="0">
                <a:latin typeface="+mn-ea"/>
              </a:rPr>
              <a:t>类别一致性</a:t>
            </a:r>
            <a:endParaRPr lang="en-US" altLang="zh-CN" sz="1200" b="1" dirty="0">
              <a:latin typeface="+mn-ea"/>
            </a:endParaRPr>
          </a:p>
          <a:p>
            <a:pPr algn="ctr"/>
            <a:r>
              <a:rPr lang="zh-CN" altLang="en-US" sz="1200" b="1" dirty="0">
                <a:latin typeface="+mn-ea"/>
              </a:rPr>
              <a:t>召回分数</a:t>
            </a:r>
            <a:endParaRPr lang="en-US" altLang="zh-CN" sz="1200" b="1" dirty="0">
              <a:latin typeface="+mn-ea"/>
            </a:endParaRPr>
          </a:p>
          <a:p>
            <a:pPr algn="ctr"/>
            <a:r>
              <a:rPr lang="zh-CN" altLang="en-US" sz="1200" b="1" dirty="0">
                <a:latin typeface="+mn-ea"/>
              </a:rPr>
              <a:t>来源覆盖</a:t>
            </a:r>
            <a:endParaRPr lang="en-US" altLang="zh-CN" sz="1200" b="1" dirty="0">
              <a:latin typeface="+mn-ea"/>
            </a:endParaRPr>
          </a:p>
          <a:p>
            <a:pPr algn="ctr"/>
            <a:r>
              <a:rPr lang="en-US" altLang="zh-CN" sz="1200" b="1" dirty="0">
                <a:latin typeface="+mn-ea"/>
              </a:rPr>
              <a:t>…</a:t>
            </a:r>
            <a:endParaRPr lang="zh-CN" altLang="en-US" sz="1200" b="1" dirty="0">
              <a:latin typeface="+mn-ea"/>
            </a:endParaRPr>
          </a:p>
        </p:txBody>
      </p:sp>
      <p:cxnSp>
        <p:nvCxnSpPr>
          <p:cNvPr id="451" name="直接箭头连接符 450">
            <a:extLst>
              <a:ext uri="{FF2B5EF4-FFF2-40B4-BE49-F238E27FC236}">
                <a16:creationId xmlns:a16="http://schemas.microsoft.com/office/drawing/2014/main" id="{FA8AE1FC-1364-5B6F-4C68-3AC4548F7ED9}"/>
              </a:ext>
            </a:extLst>
          </p:cNvPr>
          <p:cNvCxnSpPr>
            <a:cxnSpLocks/>
          </p:cNvCxnSpPr>
          <p:nvPr/>
        </p:nvCxnSpPr>
        <p:spPr>
          <a:xfrm rot="5400000">
            <a:off x="20255626" y="6299872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文本框 451">
            <a:extLst>
              <a:ext uri="{FF2B5EF4-FFF2-40B4-BE49-F238E27FC236}">
                <a16:creationId xmlns:a16="http://schemas.microsoft.com/office/drawing/2014/main" id="{7333FEFD-DEB0-E2E2-FD90-0E90D3D04272}"/>
              </a:ext>
            </a:extLst>
          </p:cNvPr>
          <p:cNvSpPr txBox="1"/>
          <p:nvPr/>
        </p:nvSpPr>
        <p:spPr>
          <a:xfrm>
            <a:off x="19854151" y="6447902"/>
            <a:ext cx="1034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</a:rPr>
              <a:t>特征得分</a:t>
            </a:r>
          </a:p>
        </p:txBody>
      </p:sp>
      <p:pic>
        <p:nvPicPr>
          <p:cNvPr id="453" name="图片 452">
            <a:extLst>
              <a:ext uri="{FF2B5EF4-FFF2-40B4-BE49-F238E27FC236}">
                <a16:creationId xmlns:a16="http://schemas.microsoft.com/office/drawing/2014/main" id="{B2866628-3607-9627-2107-AEF2772C5765}"/>
              </a:ext>
            </a:extLst>
          </p:cNvPr>
          <p:cNvPicPr>
            <a:picLocks noChangeAspect="1"/>
          </p:cNvPicPr>
          <p:nvPr/>
        </p:nvPicPr>
        <p:blipFill>
          <a:blip r:embed="rId67"/>
          <a:srcRect t="25430"/>
          <a:stretch>
            <a:fillRect/>
          </a:stretch>
        </p:blipFill>
        <p:spPr>
          <a:xfrm>
            <a:off x="19924263" y="6678565"/>
            <a:ext cx="791428" cy="380925"/>
          </a:xfrm>
          <a:prstGeom prst="rect">
            <a:avLst/>
          </a:prstGeom>
        </p:spPr>
      </p:pic>
      <p:sp>
        <p:nvSpPr>
          <p:cNvPr id="454" name="矩形: 圆角 453">
            <a:extLst>
              <a:ext uri="{FF2B5EF4-FFF2-40B4-BE49-F238E27FC236}">
                <a16:creationId xmlns:a16="http://schemas.microsoft.com/office/drawing/2014/main" id="{DB5FE296-FF8D-FD01-1008-02AF1F6DAA67}"/>
              </a:ext>
            </a:extLst>
          </p:cNvPr>
          <p:cNvSpPr/>
          <p:nvPr/>
        </p:nvSpPr>
        <p:spPr>
          <a:xfrm>
            <a:off x="17750158" y="7640165"/>
            <a:ext cx="3413973" cy="672765"/>
          </a:xfrm>
          <a:prstGeom prst="roundRect">
            <a:avLst>
              <a:gd name="adj" fmla="val 6689"/>
            </a:avLst>
          </a:prstGeom>
          <a:solidFill>
            <a:srgbClr val="FEFEFE"/>
          </a:solidFill>
          <a:ln w="28575">
            <a:solidFill>
              <a:srgbClr val="9AB0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5" name="右大括号 454">
            <a:extLst>
              <a:ext uri="{FF2B5EF4-FFF2-40B4-BE49-F238E27FC236}">
                <a16:creationId xmlns:a16="http://schemas.microsoft.com/office/drawing/2014/main" id="{09A8ACA4-48A5-B3E9-BB11-9BBB6A5EF60B}"/>
              </a:ext>
            </a:extLst>
          </p:cNvPr>
          <p:cNvSpPr/>
          <p:nvPr/>
        </p:nvSpPr>
        <p:spPr>
          <a:xfrm rot="5400000">
            <a:off x="19322969" y="6516293"/>
            <a:ext cx="223345" cy="1933276"/>
          </a:xfrm>
          <a:prstGeom prst="rightBrace">
            <a:avLst/>
          </a:prstGeom>
          <a:ln w="19050">
            <a:solidFill>
              <a:srgbClr val="9AB0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" name="文本框 455">
            <a:extLst>
              <a:ext uri="{FF2B5EF4-FFF2-40B4-BE49-F238E27FC236}">
                <a16:creationId xmlns:a16="http://schemas.microsoft.com/office/drawing/2014/main" id="{EFE79171-4E2B-CD53-D9A6-F68ABA05400F}"/>
              </a:ext>
            </a:extLst>
          </p:cNvPr>
          <p:cNvSpPr txBox="1"/>
          <p:nvPr/>
        </p:nvSpPr>
        <p:spPr>
          <a:xfrm>
            <a:off x="18868937" y="7705377"/>
            <a:ext cx="1104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38C7"/>
                </a:solidFill>
                <a:latin typeface="+mn-ea"/>
              </a:rPr>
              <a:t>最终得分</a:t>
            </a:r>
          </a:p>
        </p:txBody>
      </p:sp>
      <p:pic>
        <p:nvPicPr>
          <p:cNvPr id="457" name="图片 456">
            <a:extLst>
              <a:ext uri="{FF2B5EF4-FFF2-40B4-BE49-F238E27FC236}">
                <a16:creationId xmlns:a16="http://schemas.microsoft.com/office/drawing/2014/main" id="{8508785C-CA09-98BE-76EA-95A898294799}"/>
              </a:ext>
            </a:extLst>
          </p:cNvPr>
          <p:cNvPicPr>
            <a:picLocks noChangeAspect="1"/>
          </p:cNvPicPr>
          <p:nvPr/>
        </p:nvPicPr>
        <p:blipFill>
          <a:blip r:embed="rId68"/>
          <a:srcRect b="18381"/>
          <a:stretch>
            <a:fillRect/>
          </a:stretch>
        </p:blipFill>
        <p:spPr>
          <a:xfrm>
            <a:off x="18226105" y="7920178"/>
            <a:ext cx="2462079" cy="327134"/>
          </a:xfrm>
          <a:prstGeom prst="rect">
            <a:avLst/>
          </a:prstGeom>
        </p:spPr>
      </p:pic>
      <p:cxnSp>
        <p:nvCxnSpPr>
          <p:cNvPr id="458" name="直接箭头连接符 457">
            <a:extLst>
              <a:ext uri="{FF2B5EF4-FFF2-40B4-BE49-F238E27FC236}">
                <a16:creationId xmlns:a16="http://schemas.microsoft.com/office/drawing/2014/main" id="{7A488301-0AFF-2754-2AB8-B132748D77F8}"/>
              </a:ext>
            </a:extLst>
          </p:cNvPr>
          <p:cNvCxnSpPr>
            <a:cxnSpLocks/>
          </p:cNvCxnSpPr>
          <p:nvPr/>
        </p:nvCxnSpPr>
        <p:spPr>
          <a:xfrm rot="5400000">
            <a:off x="19327295" y="8468570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矩形: 圆角 458">
            <a:extLst>
              <a:ext uri="{FF2B5EF4-FFF2-40B4-BE49-F238E27FC236}">
                <a16:creationId xmlns:a16="http://schemas.microsoft.com/office/drawing/2014/main" id="{1AA6F417-DC30-AF87-C92D-8623F2BFB4BC}"/>
              </a:ext>
            </a:extLst>
          </p:cNvPr>
          <p:cNvSpPr/>
          <p:nvPr/>
        </p:nvSpPr>
        <p:spPr>
          <a:xfrm>
            <a:off x="17750158" y="8600591"/>
            <a:ext cx="3413973" cy="406250"/>
          </a:xfrm>
          <a:prstGeom prst="roundRect">
            <a:avLst>
              <a:gd name="adj" fmla="val 6689"/>
            </a:avLst>
          </a:prstGeom>
          <a:solidFill>
            <a:srgbClr val="FEFEFE"/>
          </a:solidFill>
          <a:ln w="28575">
            <a:solidFill>
              <a:srgbClr val="9AB0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0" name="文本框 459">
            <a:extLst>
              <a:ext uri="{FF2B5EF4-FFF2-40B4-BE49-F238E27FC236}">
                <a16:creationId xmlns:a16="http://schemas.microsoft.com/office/drawing/2014/main" id="{5444ED7D-045D-B32D-67AE-E90B489A4CBA}"/>
              </a:ext>
            </a:extLst>
          </p:cNvPr>
          <p:cNvSpPr txBox="1"/>
          <p:nvPr/>
        </p:nvSpPr>
        <p:spPr>
          <a:xfrm>
            <a:off x="18904864" y="8659974"/>
            <a:ext cx="1104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2E38C7"/>
                </a:solidFill>
                <a:latin typeface="+mn-ea"/>
              </a:rPr>
              <a:t>Top-K</a:t>
            </a:r>
            <a:r>
              <a:rPr lang="zh-CN" altLang="en-US" sz="1200" b="1" dirty="0">
                <a:solidFill>
                  <a:srgbClr val="2E38C7"/>
                </a:solidFill>
                <a:latin typeface="+mn-ea"/>
              </a:rPr>
              <a:t>选择</a:t>
            </a:r>
          </a:p>
        </p:txBody>
      </p:sp>
      <p:cxnSp>
        <p:nvCxnSpPr>
          <p:cNvPr id="461" name="直接箭头连接符 460">
            <a:extLst>
              <a:ext uri="{FF2B5EF4-FFF2-40B4-BE49-F238E27FC236}">
                <a16:creationId xmlns:a16="http://schemas.microsoft.com/office/drawing/2014/main" id="{C98A8793-9829-A704-1402-0521A984E9F4}"/>
              </a:ext>
            </a:extLst>
          </p:cNvPr>
          <p:cNvCxnSpPr>
            <a:cxnSpLocks/>
          </p:cNvCxnSpPr>
          <p:nvPr/>
        </p:nvCxnSpPr>
        <p:spPr>
          <a:xfrm rot="5400000">
            <a:off x="19327295" y="9164531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2" name="矩形: 圆角 461">
            <a:extLst>
              <a:ext uri="{FF2B5EF4-FFF2-40B4-BE49-F238E27FC236}">
                <a16:creationId xmlns:a16="http://schemas.microsoft.com/office/drawing/2014/main" id="{B7DA2040-F998-F947-BC4F-681D86940D1B}"/>
              </a:ext>
            </a:extLst>
          </p:cNvPr>
          <p:cNvSpPr/>
          <p:nvPr/>
        </p:nvSpPr>
        <p:spPr>
          <a:xfrm>
            <a:off x="17750158" y="9307998"/>
            <a:ext cx="3413973" cy="1065361"/>
          </a:xfrm>
          <a:prstGeom prst="roundRect">
            <a:avLst>
              <a:gd name="adj" fmla="val 6689"/>
            </a:avLst>
          </a:prstGeom>
          <a:solidFill>
            <a:srgbClr val="FEFEFE"/>
          </a:solidFill>
          <a:ln w="28575">
            <a:solidFill>
              <a:srgbClr val="9AB0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3" name="图片 462">
            <a:extLst>
              <a:ext uri="{FF2B5EF4-FFF2-40B4-BE49-F238E27FC236}">
                <a16:creationId xmlns:a16="http://schemas.microsoft.com/office/drawing/2014/main" id="{6127C302-57A9-92F3-E196-8BC0FBBEE50E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8247966" y="9408664"/>
            <a:ext cx="787025" cy="913823"/>
          </a:xfrm>
          <a:prstGeom prst="rect">
            <a:avLst/>
          </a:prstGeom>
        </p:spPr>
      </p:pic>
      <p:sp>
        <p:nvSpPr>
          <p:cNvPr id="464" name="文本框 463">
            <a:extLst>
              <a:ext uri="{FF2B5EF4-FFF2-40B4-BE49-F238E27FC236}">
                <a16:creationId xmlns:a16="http://schemas.microsoft.com/office/drawing/2014/main" id="{CEFA3C8A-11C6-C6CB-E0BC-2770EED4C74F}"/>
              </a:ext>
            </a:extLst>
          </p:cNvPr>
          <p:cNvSpPr txBox="1"/>
          <p:nvPr/>
        </p:nvSpPr>
        <p:spPr>
          <a:xfrm>
            <a:off x="18868759" y="9391494"/>
            <a:ext cx="1617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2E38C7"/>
                </a:solidFill>
                <a:latin typeface="+mn-ea"/>
              </a:rPr>
              <a:t>下一</a:t>
            </a:r>
            <a:r>
              <a:rPr lang="en-US" altLang="zh-CN" sz="1200" b="1" dirty="0">
                <a:solidFill>
                  <a:srgbClr val="2E38C7"/>
                </a:solidFill>
                <a:latin typeface="+mn-ea"/>
              </a:rPr>
              <a:t>POI</a:t>
            </a:r>
            <a:r>
              <a:rPr lang="zh-CN" altLang="en-US" sz="1200" b="1" dirty="0">
                <a:solidFill>
                  <a:srgbClr val="2E38C7"/>
                </a:solidFill>
                <a:latin typeface="+mn-ea"/>
              </a:rPr>
              <a:t>推荐结果</a:t>
            </a: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D9D8A896-FD3D-15BF-0FB1-33FF4FD25C66}"/>
              </a:ext>
            </a:extLst>
          </p:cNvPr>
          <p:cNvSpPr txBox="1"/>
          <p:nvPr/>
        </p:nvSpPr>
        <p:spPr>
          <a:xfrm>
            <a:off x="18822248" y="9599601"/>
            <a:ext cx="1687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zh-CN" sz="1200" b="1" dirty="0">
                <a:latin typeface="+mn-ea"/>
              </a:rPr>
              <a:t>1. POI A</a:t>
            </a:r>
          </a:p>
          <a:p>
            <a:pPr algn="ctr"/>
            <a:r>
              <a:rPr lang="it-IT" altLang="zh-CN" sz="1200" b="1" dirty="0">
                <a:latin typeface="+mn-ea"/>
              </a:rPr>
              <a:t>2. POI B</a:t>
            </a:r>
          </a:p>
          <a:p>
            <a:pPr algn="ctr"/>
            <a:r>
              <a:rPr lang="it-IT" altLang="zh-CN" sz="1200" b="1" dirty="0">
                <a:latin typeface="+mn-ea"/>
              </a:rPr>
              <a:t>3. POI C</a:t>
            </a:r>
            <a:endParaRPr lang="en-US" altLang="zh-CN" sz="1200" b="1" dirty="0">
              <a:latin typeface="+mn-ea"/>
            </a:endParaRPr>
          </a:p>
          <a:p>
            <a:pPr algn="ctr"/>
            <a:r>
              <a:rPr lang="en-US" altLang="zh-CN" sz="1200" b="1" dirty="0">
                <a:latin typeface="+mn-ea"/>
              </a:rPr>
              <a:t>…</a:t>
            </a:r>
            <a:endParaRPr lang="it-IT" altLang="zh-CN" sz="1200" b="1" dirty="0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C60B63-1074-0FEE-0301-283C3E4E3FA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3" y="5492944"/>
            <a:ext cx="582657" cy="5746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5458D7E-D6E6-0826-BA68-9B05E149302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32" y="5492944"/>
            <a:ext cx="597817" cy="5746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9590BF6-EDAE-E4EC-5AEA-C17B57D18D3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650" y="5492944"/>
            <a:ext cx="558713" cy="574676"/>
          </a:xfrm>
          <a:prstGeom prst="rect">
            <a:avLst/>
          </a:prstGeom>
        </p:spPr>
      </p:pic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89B162F1-FFCC-C2E2-C6CF-516F4B190ED0}"/>
              </a:ext>
            </a:extLst>
          </p:cNvPr>
          <p:cNvCxnSpPr>
            <a:cxnSpLocks/>
            <a:endCxn id="311" idx="0"/>
          </p:cNvCxnSpPr>
          <p:nvPr/>
        </p:nvCxnSpPr>
        <p:spPr>
          <a:xfrm rot="5400000">
            <a:off x="10331450" y="2307601"/>
            <a:ext cx="584247" cy="1"/>
          </a:xfrm>
          <a:prstGeom prst="bentConnector3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AC79D800-6FA8-3B53-6A4B-F7A12FB82E52}"/>
              </a:ext>
            </a:extLst>
          </p:cNvPr>
          <p:cNvCxnSpPr>
            <a:stCxn id="105" idx="2"/>
            <a:endCxn id="237" idx="0"/>
          </p:cNvCxnSpPr>
          <p:nvPr/>
        </p:nvCxnSpPr>
        <p:spPr>
          <a:xfrm rot="5400000">
            <a:off x="12218010" y="-3532911"/>
            <a:ext cx="368172" cy="11945032"/>
          </a:xfrm>
          <a:prstGeom prst="bentConnector3">
            <a:avLst>
              <a:gd name="adj1" fmla="val 27923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4383A9D9-8C83-A882-E37A-51CE67243202}"/>
              </a:ext>
            </a:extLst>
          </p:cNvPr>
          <p:cNvCxnSpPr>
            <a:cxnSpLocks/>
            <a:endCxn id="61" idx="0"/>
          </p:cNvCxnSpPr>
          <p:nvPr/>
        </p:nvCxnSpPr>
        <p:spPr>
          <a:xfrm rot="10800000" flipV="1">
            <a:off x="15240876" y="2367313"/>
            <a:ext cx="3132570" cy="232401"/>
          </a:xfrm>
          <a:prstGeom prst="bentConnector2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B5087F4-998B-C24C-DB79-1D1EBD57EC3C}"/>
              </a:ext>
            </a:extLst>
          </p:cNvPr>
          <p:cNvCxnSpPr>
            <a:cxnSpLocks/>
          </p:cNvCxnSpPr>
          <p:nvPr/>
        </p:nvCxnSpPr>
        <p:spPr>
          <a:xfrm rot="5400000">
            <a:off x="19327295" y="4267158"/>
            <a:ext cx="25969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CBA8761-B299-288B-EDB5-15D96E95D661}"/>
              </a:ext>
            </a:extLst>
          </p:cNvPr>
          <p:cNvSpPr/>
          <p:nvPr/>
        </p:nvSpPr>
        <p:spPr>
          <a:xfrm>
            <a:off x="4854178" y="7029668"/>
            <a:ext cx="3154442" cy="742732"/>
          </a:xfrm>
          <a:prstGeom prst="roundRect">
            <a:avLst>
              <a:gd name="adj" fmla="val 2852"/>
            </a:avLst>
          </a:prstGeom>
          <a:noFill/>
          <a:ln w="28575">
            <a:solidFill>
              <a:srgbClr val="7A997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FB46E124-8A3A-49EB-34B7-5BFFD2CA587F}"/>
              </a:ext>
            </a:extLst>
          </p:cNvPr>
          <p:cNvCxnSpPr>
            <a:cxnSpLocks/>
            <a:stCxn id="35" idx="1"/>
            <a:endCxn id="263" idx="1"/>
          </p:cNvCxnSpPr>
          <p:nvPr/>
        </p:nvCxnSpPr>
        <p:spPr>
          <a:xfrm rot="10800000" flipH="1">
            <a:off x="4854177" y="4848398"/>
            <a:ext cx="474695" cy="2552636"/>
          </a:xfrm>
          <a:prstGeom prst="bentConnector3">
            <a:avLst>
              <a:gd name="adj1" fmla="val -18460"/>
            </a:avLst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715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273</TotalTime>
  <Words>364</Words>
  <Application>Microsoft Macintosh PowerPoint</Application>
  <PresentationFormat>自定义</PresentationFormat>
  <Paragraphs>99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新鱼 庄</dc:creator>
  <cp:lastModifiedBy>新鱼 庄</cp:lastModifiedBy>
  <cp:revision>21</cp:revision>
  <dcterms:created xsi:type="dcterms:W3CDTF">2026-07-13T10:05:00Z</dcterms:created>
  <dcterms:modified xsi:type="dcterms:W3CDTF">2026-07-13T17:54:13Z</dcterms:modified>
</cp:coreProperties>
</file>